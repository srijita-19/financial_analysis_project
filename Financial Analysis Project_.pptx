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Bebas Neue Bold" charset="1" panose="020B0606020202050201"/>
      <p:regular r:id="rId16"/>
    </p:embeddedFont>
    <p:embeddedFont>
      <p:font typeface="Canva Sans Bold" charset="1" panose="020B0803030501040103"/>
      <p:regular r:id="rId17"/>
    </p:embeddedFont>
    <p:embeddedFont>
      <p:font typeface="Barlow Condensed" charset="1" panose="00000506000000000000"/>
      <p:regular r:id="rId18"/>
    </p:embeddedFont>
    <p:embeddedFont>
      <p:font typeface="Canva Sans" charset="1" panose="020B0503030501040103"/>
      <p:regular r:id="rId19"/>
    </p:embeddedFont>
    <p:embeddedFont>
      <p:font typeface="Barlow Condensed Bold" charset="1" panose="00000806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14.jpe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media/image7.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11" Target="../media/image19.jpe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media/image7.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media/image7.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0.jpe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17.png" Type="http://schemas.openxmlformats.org/officeDocument/2006/relationships/image"/><Relationship Id="rId14" Target="../media/image18.svg" Type="http://schemas.openxmlformats.org/officeDocument/2006/relationships/image"/><Relationship Id="rId15" Target="../media/image21.jpeg" Type="http://schemas.openxmlformats.org/officeDocument/2006/relationships/image"/><Relationship Id="rId2" Target="../media/image7.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17.png" Type="http://schemas.openxmlformats.org/officeDocument/2006/relationships/image"/><Relationship Id="rId14" Target="../media/image18.svg" Type="http://schemas.openxmlformats.org/officeDocument/2006/relationships/image"/><Relationship Id="rId15" Target="../media/image22.jpeg" Type="http://schemas.openxmlformats.org/officeDocument/2006/relationships/image"/><Relationship Id="rId2" Target="../media/image7.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2" Target="../media/image7.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2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media/image7.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media/image7.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grpSp>
        <p:nvGrpSpPr>
          <p:cNvPr name="Group 3" id="3"/>
          <p:cNvGrpSpPr/>
          <p:nvPr/>
        </p:nvGrpSpPr>
        <p:grpSpPr>
          <a:xfrm rot="0">
            <a:off x="-2197691" y="0"/>
            <a:ext cx="13949487" cy="10287000"/>
            <a:chOff x="0" y="0"/>
            <a:chExt cx="16883910" cy="12450980"/>
          </a:xfrm>
        </p:grpSpPr>
        <p:sp>
          <p:nvSpPr>
            <p:cNvPr name="Freeform 4" id="4"/>
            <p:cNvSpPr/>
            <p:nvPr/>
          </p:nvSpPr>
          <p:spPr>
            <a:xfrm flipH="false" flipV="false" rot="0">
              <a:off x="0" y="0"/>
              <a:ext cx="16883911" cy="12450980"/>
            </a:xfrm>
            <a:custGeom>
              <a:avLst/>
              <a:gdLst/>
              <a:ahLst/>
              <a:cxnLst/>
              <a:rect r="r" b="b" t="t" l="l"/>
              <a:pathLst>
                <a:path h="12450980" w="16883911">
                  <a:moveTo>
                    <a:pt x="16883911" y="0"/>
                  </a:moveTo>
                  <a:lnTo>
                    <a:pt x="10241206" y="12450980"/>
                  </a:lnTo>
                  <a:lnTo>
                    <a:pt x="0" y="12450980"/>
                  </a:lnTo>
                  <a:lnTo>
                    <a:pt x="6642705" y="0"/>
                  </a:lnTo>
                  <a:lnTo>
                    <a:pt x="16883911" y="0"/>
                  </a:lnTo>
                  <a:close/>
                </a:path>
              </a:pathLst>
            </a:custGeom>
            <a:blipFill>
              <a:blip r:embed="rId3"/>
              <a:stretch>
                <a:fillRect l="-10322" t="0" r="-10322" b="0"/>
              </a:stretch>
            </a:blipFill>
          </p:spPr>
        </p:sp>
      </p:grpSp>
      <p:grpSp>
        <p:nvGrpSpPr>
          <p:cNvPr name="Group 5" id="5"/>
          <p:cNvGrpSpPr/>
          <p:nvPr/>
        </p:nvGrpSpPr>
        <p:grpSpPr>
          <a:xfrm rot="0">
            <a:off x="6837879" y="6701284"/>
            <a:ext cx="11450121" cy="2919984"/>
            <a:chOff x="0" y="0"/>
            <a:chExt cx="3015670" cy="769049"/>
          </a:xfrm>
        </p:grpSpPr>
        <p:sp>
          <p:nvSpPr>
            <p:cNvPr name="Freeform 6" id="6"/>
            <p:cNvSpPr/>
            <p:nvPr/>
          </p:nvSpPr>
          <p:spPr>
            <a:xfrm flipH="false" flipV="false" rot="0">
              <a:off x="0" y="0"/>
              <a:ext cx="3015670" cy="769049"/>
            </a:xfrm>
            <a:custGeom>
              <a:avLst/>
              <a:gdLst/>
              <a:ahLst/>
              <a:cxnLst/>
              <a:rect r="r" b="b" t="t" l="l"/>
              <a:pathLst>
                <a:path h="769049" w="3015670">
                  <a:moveTo>
                    <a:pt x="0" y="0"/>
                  </a:moveTo>
                  <a:lnTo>
                    <a:pt x="3015670" y="0"/>
                  </a:lnTo>
                  <a:lnTo>
                    <a:pt x="3015670" y="769049"/>
                  </a:lnTo>
                  <a:lnTo>
                    <a:pt x="0" y="769049"/>
                  </a:lnTo>
                  <a:close/>
                </a:path>
              </a:pathLst>
            </a:custGeom>
            <a:gradFill rotWithShape="true">
              <a:gsLst>
                <a:gs pos="0">
                  <a:srgbClr val="5DE0E6">
                    <a:alpha val="100000"/>
                  </a:srgbClr>
                </a:gs>
                <a:gs pos="100000">
                  <a:srgbClr val="004AAD">
                    <a:alpha val="100000"/>
                  </a:srgbClr>
                </a:gs>
              </a:gsLst>
              <a:lin ang="0"/>
            </a:gradFill>
          </p:spPr>
        </p:sp>
        <p:sp>
          <p:nvSpPr>
            <p:cNvPr name="TextBox 7" id="7"/>
            <p:cNvSpPr txBox="true"/>
            <p:nvPr/>
          </p:nvSpPr>
          <p:spPr>
            <a:xfrm>
              <a:off x="0" y="-38100"/>
              <a:ext cx="3015670" cy="80714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3547838" y="0"/>
            <a:ext cx="7095676" cy="6208716"/>
            <a:chOff x="0" y="0"/>
            <a:chExt cx="812800" cy="711200"/>
          </a:xfrm>
        </p:grpSpPr>
        <p:sp>
          <p:nvSpPr>
            <p:cNvPr name="Freeform 9" id="9"/>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gradFill rotWithShape="true">
              <a:gsLst>
                <a:gs pos="0">
                  <a:srgbClr val="5DE0E6">
                    <a:alpha val="100000"/>
                  </a:srgbClr>
                </a:gs>
                <a:gs pos="100000">
                  <a:srgbClr val="004AAD">
                    <a:alpha val="100000"/>
                  </a:srgbClr>
                </a:gs>
              </a:gsLst>
              <a:lin ang="0"/>
            </a:gradFill>
          </p:spPr>
        </p:sp>
        <p:sp>
          <p:nvSpPr>
            <p:cNvPr name="TextBox 10" id="10"/>
            <p:cNvSpPr txBox="true"/>
            <p:nvPr/>
          </p:nvSpPr>
          <p:spPr>
            <a:xfrm>
              <a:off x="127000" y="12700"/>
              <a:ext cx="558800" cy="3683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1416060">
            <a:off x="10744412" y="-701442"/>
            <a:ext cx="703257" cy="4114800"/>
          </a:xfrm>
          <a:custGeom>
            <a:avLst/>
            <a:gdLst/>
            <a:ahLst/>
            <a:cxnLst/>
            <a:rect r="r" b="b" t="t" l="l"/>
            <a:pathLst>
              <a:path h="4114800" w="703257">
                <a:moveTo>
                  <a:pt x="0" y="0"/>
                </a:moveTo>
                <a:lnTo>
                  <a:pt x="703257" y="0"/>
                </a:lnTo>
                <a:lnTo>
                  <a:pt x="70325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7274840">
            <a:off x="14535993" y="931678"/>
            <a:ext cx="5446613" cy="3018882"/>
          </a:xfrm>
          <a:custGeom>
            <a:avLst/>
            <a:gdLst/>
            <a:ahLst/>
            <a:cxnLst/>
            <a:rect r="r" b="b" t="t" l="l"/>
            <a:pathLst>
              <a:path h="3018882" w="5446613">
                <a:moveTo>
                  <a:pt x="0" y="0"/>
                </a:moveTo>
                <a:lnTo>
                  <a:pt x="5446614" y="0"/>
                </a:lnTo>
                <a:lnTo>
                  <a:pt x="5446614" y="3018881"/>
                </a:lnTo>
                <a:lnTo>
                  <a:pt x="0" y="30188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8903980" y="7308708"/>
            <a:ext cx="8355320" cy="905037"/>
          </a:xfrm>
          <a:prstGeom prst="rect">
            <a:avLst/>
          </a:prstGeom>
        </p:spPr>
        <p:txBody>
          <a:bodyPr anchor="t" rtlCol="false" tIns="0" lIns="0" bIns="0" rIns="0">
            <a:spAutoFit/>
          </a:bodyPr>
          <a:lstStyle/>
          <a:p>
            <a:pPr algn="l">
              <a:lnSpc>
                <a:spcPts val="6800"/>
              </a:lnSpc>
            </a:pPr>
            <a:r>
              <a:rPr lang="en-US" sz="6355" b="true">
                <a:solidFill>
                  <a:srgbClr val="FFFFFF"/>
                </a:solidFill>
                <a:latin typeface="Bebas Neue Bold"/>
                <a:ea typeface="Bebas Neue Bold"/>
                <a:cs typeface="Bebas Neue Bold"/>
                <a:sym typeface="Bebas Neue Bold"/>
              </a:rPr>
              <a:t>FINANCIAL ANALYSIS  Project</a:t>
            </a:r>
          </a:p>
        </p:txBody>
      </p:sp>
      <p:grpSp>
        <p:nvGrpSpPr>
          <p:cNvPr name="Group 14" id="14"/>
          <p:cNvGrpSpPr/>
          <p:nvPr/>
        </p:nvGrpSpPr>
        <p:grpSpPr>
          <a:xfrm rot="1831014">
            <a:off x="16871036" y="4659302"/>
            <a:ext cx="681115" cy="6532497"/>
            <a:chOff x="0" y="0"/>
            <a:chExt cx="179388" cy="1720493"/>
          </a:xfrm>
        </p:grpSpPr>
        <p:sp>
          <p:nvSpPr>
            <p:cNvPr name="Freeform 15" id="15"/>
            <p:cNvSpPr/>
            <p:nvPr/>
          </p:nvSpPr>
          <p:spPr>
            <a:xfrm flipH="false" flipV="false" rot="0">
              <a:off x="0" y="0"/>
              <a:ext cx="179388" cy="1720493"/>
            </a:xfrm>
            <a:custGeom>
              <a:avLst/>
              <a:gdLst/>
              <a:ahLst/>
              <a:cxnLst/>
              <a:rect r="r" b="b" t="t" l="l"/>
              <a:pathLst>
                <a:path h="1720493" w="179388">
                  <a:moveTo>
                    <a:pt x="0" y="0"/>
                  </a:moveTo>
                  <a:lnTo>
                    <a:pt x="179388" y="0"/>
                  </a:lnTo>
                  <a:lnTo>
                    <a:pt x="179388" y="1720493"/>
                  </a:lnTo>
                  <a:lnTo>
                    <a:pt x="0" y="1720493"/>
                  </a:lnTo>
                  <a:close/>
                </a:path>
              </a:pathLst>
            </a:custGeom>
            <a:solidFill>
              <a:srgbClr val="FFFFFF"/>
            </a:solidFill>
          </p:spPr>
        </p:sp>
        <p:sp>
          <p:nvSpPr>
            <p:cNvPr name="TextBox 16" id="16"/>
            <p:cNvSpPr txBox="true"/>
            <p:nvPr/>
          </p:nvSpPr>
          <p:spPr>
            <a:xfrm>
              <a:off x="0" y="-38100"/>
              <a:ext cx="179388" cy="1758593"/>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1671049">
            <a:off x="7534042" y="5863305"/>
            <a:ext cx="681115" cy="5190500"/>
            <a:chOff x="0" y="0"/>
            <a:chExt cx="179388" cy="1367045"/>
          </a:xfrm>
        </p:grpSpPr>
        <p:sp>
          <p:nvSpPr>
            <p:cNvPr name="Freeform 18" id="18"/>
            <p:cNvSpPr/>
            <p:nvPr/>
          </p:nvSpPr>
          <p:spPr>
            <a:xfrm flipH="false" flipV="false" rot="0">
              <a:off x="0" y="0"/>
              <a:ext cx="179388" cy="1367045"/>
            </a:xfrm>
            <a:custGeom>
              <a:avLst/>
              <a:gdLst/>
              <a:ahLst/>
              <a:cxnLst/>
              <a:rect r="r" b="b" t="t" l="l"/>
              <a:pathLst>
                <a:path h="1367045" w="179388">
                  <a:moveTo>
                    <a:pt x="0" y="0"/>
                  </a:moveTo>
                  <a:lnTo>
                    <a:pt x="179388" y="0"/>
                  </a:lnTo>
                  <a:lnTo>
                    <a:pt x="179388" y="1367045"/>
                  </a:lnTo>
                  <a:lnTo>
                    <a:pt x="0" y="1367045"/>
                  </a:lnTo>
                  <a:close/>
                </a:path>
              </a:pathLst>
            </a:custGeom>
            <a:solidFill>
              <a:srgbClr val="F0F9F8"/>
            </a:solidFill>
          </p:spPr>
        </p:sp>
        <p:sp>
          <p:nvSpPr>
            <p:cNvPr name="TextBox 19" id="19"/>
            <p:cNvSpPr txBox="true"/>
            <p:nvPr/>
          </p:nvSpPr>
          <p:spPr>
            <a:xfrm>
              <a:off x="0" y="-38100"/>
              <a:ext cx="179388" cy="1405145"/>
            </a:xfrm>
            <a:prstGeom prst="rect">
              <a:avLst/>
            </a:prstGeom>
          </p:spPr>
          <p:txBody>
            <a:bodyPr anchor="ctr" rtlCol="false" tIns="50800" lIns="50800" bIns="50800" rIns="50800"/>
            <a:lstStyle/>
            <a:p>
              <a:pPr algn="ctr">
                <a:lnSpc>
                  <a:spcPts val="2659"/>
                </a:lnSpc>
              </a:pPr>
            </a:p>
          </p:txBody>
        </p:sp>
      </p:grpSp>
      <p:sp>
        <p:nvSpPr>
          <p:cNvPr name="AutoShape 20" id="20"/>
          <p:cNvSpPr/>
          <p:nvPr/>
        </p:nvSpPr>
        <p:spPr>
          <a:xfrm flipV="true">
            <a:off x="6459125" y="-2165837"/>
            <a:ext cx="7074362" cy="13253066"/>
          </a:xfrm>
          <a:prstGeom prst="line">
            <a:avLst/>
          </a:prstGeom>
          <a:ln cap="flat" w="95250">
            <a:gradFill>
              <a:gsLst>
                <a:gs pos="0">
                  <a:srgbClr val="5DE0E6">
                    <a:alpha val="100000"/>
                  </a:srgbClr>
                </a:gs>
                <a:gs pos="100000">
                  <a:srgbClr val="004AAD">
                    <a:alpha val="100000"/>
                  </a:srgbClr>
                </a:gs>
              </a:gsLst>
              <a:lin ang="0"/>
            </a:gradFill>
            <a:prstDash val="solid"/>
            <a:headEnd type="none" len="sm" w="sm"/>
            <a:tailEnd type="none" len="sm" w="sm"/>
          </a:ln>
        </p:spPr>
      </p:sp>
      <p:sp>
        <p:nvSpPr>
          <p:cNvPr name="AutoShape 21" id="21"/>
          <p:cNvSpPr/>
          <p:nvPr/>
        </p:nvSpPr>
        <p:spPr>
          <a:xfrm flipV="true">
            <a:off x="15554781" y="5111745"/>
            <a:ext cx="3315391" cy="5619712"/>
          </a:xfrm>
          <a:prstGeom prst="line">
            <a:avLst/>
          </a:prstGeom>
          <a:ln cap="flat" w="95250">
            <a:gradFill>
              <a:gsLst>
                <a:gs pos="0">
                  <a:srgbClr val="5DE0E6">
                    <a:alpha val="100000"/>
                  </a:srgbClr>
                </a:gs>
                <a:gs pos="100000">
                  <a:srgbClr val="004AAD">
                    <a:alpha val="100000"/>
                  </a:srgbClr>
                </a:gs>
              </a:gsLst>
              <a:lin ang="0"/>
            </a:gradFill>
            <a:prstDash val="solid"/>
            <a:headEnd type="none" len="sm" w="sm"/>
            <a:tailEnd type="none" len="sm" w="sm"/>
          </a:ln>
        </p:spPr>
      </p:sp>
      <p:sp>
        <p:nvSpPr>
          <p:cNvPr name="TextBox 22" id="22"/>
          <p:cNvSpPr txBox="true"/>
          <p:nvPr/>
        </p:nvSpPr>
        <p:spPr>
          <a:xfrm rot="0">
            <a:off x="6680980" y="8123176"/>
            <a:ext cx="11450121" cy="372745"/>
          </a:xfrm>
          <a:prstGeom prst="rect">
            <a:avLst/>
          </a:prstGeom>
        </p:spPr>
        <p:txBody>
          <a:bodyPr anchor="t" rtlCol="false" tIns="0" lIns="0" bIns="0" rIns="0">
            <a:spAutoFit/>
          </a:bodyPr>
          <a:lstStyle/>
          <a:p>
            <a:pPr algn="ctr">
              <a:lnSpc>
                <a:spcPts val="3079"/>
              </a:lnSpc>
              <a:spcBef>
                <a:spcPct val="0"/>
              </a:spcBef>
            </a:pPr>
            <a:r>
              <a:rPr lang="en-US" b="true" sz="2199">
                <a:solidFill>
                  <a:srgbClr val="FFFFFF"/>
                </a:solidFill>
                <a:latin typeface="Canva Sans Bold"/>
                <a:ea typeface="Canva Sans Bold"/>
                <a:cs typeface="Canva Sans Bold"/>
                <a:sym typeface="Canva Sans Bold"/>
              </a:rPr>
              <a:t>Financial Functions • Loan Analytics • Investment Decision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true" flipV="false" rot="-5691543">
            <a:off x="-309401" y="-914380"/>
            <a:ext cx="3886160" cy="3886160"/>
          </a:xfrm>
          <a:custGeom>
            <a:avLst/>
            <a:gdLst/>
            <a:ahLst/>
            <a:cxnLst/>
            <a:rect r="r" b="b" t="t" l="l"/>
            <a:pathLst>
              <a:path h="3886160" w="3886160">
                <a:moveTo>
                  <a:pt x="3886160" y="0"/>
                </a:moveTo>
                <a:lnTo>
                  <a:pt x="0" y="0"/>
                </a:lnTo>
                <a:lnTo>
                  <a:pt x="0" y="3886160"/>
                </a:lnTo>
                <a:lnTo>
                  <a:pt x="3886160" y="3886160"/>
                </a:lnTo>
                <a:lnTo>
                  <a:pt x="388616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225471">
            <a:off x="3345890" y="-420190"/>
            <a:ext cx="2897781" cy="2897781"/>
          </a:xfrm>
          <a:custGeom>
            <a:avLst/>
            <a:gdLst/>
            <a:ahLst/>
            <a:cxnLst/>
            <a:rect r="r" b="b" t="t" l="l"/>
            <a:pathLst>
              <a:path h="2897781" w="2897781">
                <a:moveTo>
                  <a:pt x="0" y="0"/>
                </a:moveTo>
                <a:lnTo>
                  <a:pt x="2897780" y="0"/>
                </a:lnTo>
                <a:lnTo>
                  <a:pt x="2897780" y="2897780"/>
                </a:lnTo>
                <a:lnTo>
                  <a:pt x="0" y="28977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1028700"/>
            <a:ext cx="16230600" cy="8229600"/>
            <a:chOff x="0" y="0"/>
            <a:chExt cx="4274726" cy="2167467"/>
          </a:xfrm>
        </p:grpSpPr>
        <p:sp>
          <p:nvSpPr>
            <p:cNvPr name="Freeform 6" id="6"/>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alpha val="76863"/>
              </a:srgbClr>
            </a:solidFill>
          </p:spPr>
        </p:sp>
        <p:sp>
          <p:nvSpPr>
            <p:cNvPr name="TextBox 7" id="7"/>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7982299" y="2197082"/>
            <a:ext cx="960641" cy="406962"/>
          </a:xfrm>
          <a:custGeom>
            <a:avLst/>
            <a:gdLst/>
            <a:ahLst/>
            <a:cxnLst/>
            <a:rect r="r" b="b" t="t" l="l"/>
            <a:pathLst>
              <a:path h="406962" w="960641">
                <a:moveTo>
                  <a:pt x="0" y="0"/>
                </a:moveTo>
                <a:lnTo>
                  <a:pt x="960641" y="0"/>
                </a:lnTo>
                <a:lnTo>
                  <a:pt x="960641" y="406963"/>
                </a:lnTo>
                <a:lnTo>
                  <a:pt x="0" y="4069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7274840">
            <a:off x="14679307" y="1014075"/>
            <a:ext cx="5446613" cy="3018882"/>
          </a:xfrm>
          <a:custGeom>
            <a:avLst/>
            <a:gdLst/>
            <a:ahLst/>
            <a:cxnLst/>
            <a:rect r="r" b="b" t="t" l="l"/>
            <a:pathLst>
              <a:path h="3018882" w="5446613">
                <a:moveTo>
                  <a:pt x="0" y="0"/>
                </a:moveTo>
                <a:lnTo>
                  <a:pt x="5446614" y="0"/>
                </a:lnTo>
                <a:lnTo>
                  <a:pt x="5446614" y="3018881"/>
                </a:lnTo>
                <a:lnTo>
                  <a:pt x="0" y="301888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5400000">
            <a:off x="-216853" y="5955347"/>
            <a:ext cx="4331653" cy="4331653"/>
          </a:xfrm>
          <a:custGeom>
            <a:avLst/>
            <a:gdLst/>
            <a:ahLst/>
            <a:cxnLst/>
            <a:rect r="r" b="b" t="t" l="l"/>
            <a:pathLst>
              <a:path h="4331653" w="4331653">
                <a:moveTo>
                  <a:pt x="0" y="0"/>
                </a:moveTo>
                <a:lnTo>
                  <a:pt x="4331653" y="0"/>
                </a:lnTo>
                <a:lnTo>
                  <a:pt x="4331653" y="4331653"/>
                </a:lnTo>
                <a:lnTo>
                  <a:pt x="0" y="433165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1" id="11"/>
          <p:cNvGrpSpPr>
            <a:grpSpLocks noChangeAspect="true"/>
          </p:cNvGrpSpPr>
          <p:nvPr/>
        </p:nvGrpSpPr>
        <p:grpSpPr>
          <a:xfrm rot="0">
            <a:off x="1028700" y="1028700"/>
            <a:ext cx="7315200" cy="8229600"/>
            <a:chOff x="0" y="0"/>
            <a:chExt cx="5370413" cy="6041715"/>
          </a:xfrm>
        </p:grpSpPr>
        <p:sp>
          <p:nvSpPr>
            <p:cNvPr name="Freeform 12" id="12"/>
            <p:cNvSpPr/>
            <p:nvPr/>
          </p:nvSpPr>
          <p:spPr>
            <a:xfrm flipH="false" flipV="false" rot="0">
              <a:off x="0" y="0"/>
              <a:ext cx="5370413" cy="6041715"/>
            </a:xfrm>
            <a:custGeom>
              <a:avLst/>
              <a:gdLst/>
              <a:ahLst/>
              <a:cxnLst/>
              <a:rect r="r" b="b" t="t" l="l"/>
              <a:pathLst>
                <a:path h="6041715" w="5370413">
                  <a:moveTo>
                    <a:pt x="0" y="6041715"/>
                  </a:moveTo>
                  <a:lnTo>
                    <a:pt x="0" y="0"/>
                  </a:lnTo>
                  <a:cubicBezTo>
                    <a:pt x="1790138" y="2013905"/>
                    <a:pt x="3580275" y="4027810"/>
                    <a:pt x="5370413" y="6041715"/>
                  </a:cubicBezTo>
                  <a:lnTo>
                    <a:pt x="0" y="6041715"/>
                  </a:lnTo>
                  <a:close/>
                </a:path>
              </a:pathLst>
            </a:custGeom>
            <a:solidFill>
              <a:srgbClr val="F9D549"/>
            </a:solidFill>
          </p:spPr>
        </p:sp>
        <p:sp>
          <p:nvSpPr>
            <p:cNvPr name="Freeform 13" id="13"/>
            <p:cNvSpPr/>
            <p:nvPr/>
          </p:nvSpPr>
          <p:spPr>
            <a:xfrm flipH="false" flipV="false" rot="0">
              <a:off x="0" y="0"/>
              <a:ext cx="5370413" cy="6041715"/>
            </a:xfrm>
            <a:custGeom>
              <a:avLst/>
              <a:gdLst/>
              <a:ahLst/>
              <a:cxnLst/>
              <a:rect r="r" b="b" t="t" l="l"/>
              <a:pathLst>
                <a:path h="6041715" w="5370413">
                  <a:moveTo>
                    <a:pt x="0" y="6041715"/>
                  </a:moveTo>
                  <a:lnTo>
                    <a:pt x="0" y="0"/>
                  </a:lnTo>
                  <a:cubicBezTo>
                    <a:pt x="1790138" y="2013905"/>
                    <a:pt x="3580275" y="4027810"/>
                    <a:pt x="5370413" y="6041715"/>
                  </a:cubicBezTo>
                  <a:lnTo>
                    <a:pt x="0" y="6041715"/>
                  </a:lnTo>
                  <a:close/>
                </a:path>
              </a:pathLst>
            </a:custGeom>
            <a:blipFill>
              <a:blip r:embed="rId11"/>
              <a:stretch>
                <a:fillRect l="-34427" t="0" r="-34427" b="0"/>
              </a:stretch>
            </a:blipFill>
          </p:spPr>
        </p:sp>
      </p:grpSp>
      <p:sp>
        <p:nvSpPr>
          <p:cNvPr name="Freeform 14" id="14"/>
          <p:cNvSpPr/>
          <p:nvPr/>
        </p:nvSpPr>
        <p:spPr>
          <a:xfrm flipH="true" flipV="false" rot="0">
            <a:off x="15571685" y="8921151"/>
            <a:ext cx="1678116" cy="674298"/>
          </a:xfrm>
          <a:custGeom>
            <a:avLst/>
            <a:gdLst/>
            <a:ahLst/>
            <a:cxnLst/>
            <a:rect r="r" b="b" t="t" l="l"/>
            <a:pathLst>
              <a:path h="674298" w="1678116">
                <a:moveTo>
                  <a:pt x="1678116" y="0"/>
                </a:moveTo>
                <a:lnTo>
                  <a:pt x="0" y="0"/>
                </a:lnTo>
                <a:lnTo>
                  <a:pt x="0" y="674298"/>
                </a:lnTo>
                <a:lnTo>
                  <a:pt x="1678116" y="674298"/>
                </a:lnTo>
                <a:lnTo>
                  <a:pt x="1678116"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7573888" y="3516605"/>
            <a:ext cx="7315200" cy="391449"/>
          </a:xfrm>
          <a:custGeom>
            <a:avLst/>
            <a:gdLst/>
            <a:ahLst/>
            <a:cxnLst/>
            <a:rect r="r" b="b" t="t" l="l"/>
            <a:pathLst>
              <a:path h="391449" w="7315200">
                <a:moveTo>
                  <a:pt x="0" y="0"/>
                </a:moveTo>
                <a:lnTo>
                  <a:pt x="7315200" y="0"/>
                </a:lnTo>
                <a:lnTo>
                  <a:pt x="7315200" y="391449"/>
                </a:lnTo>
                <a:lnTo>
                  <a:pt x="0" y="3914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6" id="16"/>
          <p:cNvSpPr txBox="true"/>
          <p:nvPr/>
        </p:nvSpPr>
        <p:spPr>
          <a:xfrm rot="0">
            <a:off x="7982299" y="2783366"/>
            <a:ext cx="7080715" cy="733239"/>
          </a:xfrm>
          <a:prstGeom prst="rect">
            <a:avLst/>
          </a:prstGeom>
        </p:spPr>
        <p:txBody>
          <a:bodyPr anchor="t" rtlCol="false" tIns="0" lIns="0" bIns="0" rIns="0">
            <a:spAutoFit/>
          </a:bodyPr>
          <a:lstStyle/>
          <a:p>
            <a:pPr algn="l">
              <a:lnSpc>
                <a:spcPts val="5543"/>
              </a:lnSpc>
            </a:pPr>
            <a:r>
              <a:rPr lang="en-US" sz="5181" b="true">
                <a:solidFill>
                  <a:srgbClr val="000000"/>
                </a:solidFill>
                <a:latin typeface="Bebas Neue Bold"/>
                <a:ea typeface="Bebas Neue Bold"/>
                <a:cs typeface="Bebas Neue Bold"/>
                <a:sym typeface="Bebas Neue Bold"/>
              </a:rPr>
              <a:t>In</a:t>
            </a:r>
            <a:r>
              <a:rPr lang="en-US" sz="5181" b="true">
                <a:solidFill>
                  <a:srgbClr val="000000"/>
                </a:solidFill>
                <a:latin typeface="Bebas Neue Bold"/>
                <a:ea typeface="Bebas Neue Bold"/>
                <a:cs typeface="Bebas Neue Bold"/>
                <a:sym typeface="Bebas Neue Bold"/>
              </a:rPr>
              <a:t>troduction &amp; Objectives</a:t>
            </a:r>
          </a:p>
        </p:txBody>
      </p:sp>
      <p:sp>
        <p:nvSpPr>
          <p:cNvPr name="TextBox 17" id="17"/>
          <p:cNvSpPr txBox="true"/>
          <p:nvPr/>
        </p:nvSpPr>
        <p:spPr>
          <a:xfrm rot="0">
            <a:off x="7982299" y="4326678"/>
            <a:ext cx="7080715" cy="2853133"/>
          </a:xfrm>
          <a:prstGeom prst="rect">
            <a:avLst/>
          </a:prstGeom>
        </p:spPr>
        <p:txBody>
          <a:bodyPr anchor="t" rtlCol="false" tIns="0" lIns="0" bIns="0" rIns="0">
            <a:spAutoFit/>
          </a:bodyPr>
          <a:lstStyle/>
          <a:p>
            <a:pPr algn="l">
              <a:lnSpc>
                <a:spcPts val="3235"/>
              </a:lnSpc>
            </a:pPr>
            <a:r>
              <a:rPr lang="en-US" sz="2378">
                <a:solidFill>
                  <a:srgbClr val="000000"/>
                </a:solidFill>
                <a:latin typeface="Barlow Condensed"/>
                <a:ea typeface="Barlow Condensed"/>
                <a:cs typeface="Barlow Condensed"/>
                <a:sym typeface="Barlow Condensed"/>
              </a:rPr>
              <a:t>The purpose of this project is to provide fundamental insights into how financial functions and terminologies by using Excel. It is essential to thoroughly understand the provided documentation and terms to efficiently utilize Excel's financial functions such as PV, NPV, XNPV, IRR, MIRR, and XIRR. This project involves analyzing a prepared dataset and applying these financial functions to derive meaningful financial insights.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true" flipV="false" rot="-5691543">
            <a:off x="-309401" y="-914380"/>
            <a:ext cx="3886160" cy="3886160"/>
          </a:xfrm>
          <a:custGeom>
            <a:avLst/>
            <a:gdLst/>
            <a:ahLst/>
            <a:cxnLst/>
            <a:rect r="r" b="b" t="t" l="l"/>
            <a:pathLst>
              <a:path h="3886160" w="3886160">
                <a:moveTo>
                  <a:pt x="3886160" y="0"/>
                </a:moveTo>
                <a:lnTo>
                  <a:pt x="0" y="0"/>
                </a:lnTo>
                <a:lnTo>
                  <a:pt x="0" y="3886160"/>
                </a:lnTo>
                <a:lnTo>
                  <a:pt x="3886160" y="3886160"/>
                </a:lnTo>
                <a:lnTo>
                  <a:pt x="388616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225471">
            <a:off x="3345890" y="-420190"/>
            <a:ext cx="2897781" cy="2897781"/>
          </a:xfrm>
          <a:custGeom>
            <a:avLst/>
            <a:gdLst/>
            <a:ahLst/>
            <a:cxnLst/>
            <a:rect r="r" b="b" t="t" l="l"/>
            <a:pathLst>
              <a:path h="2897781" w="2897781">
                <a:moveTo>
                  <a:pt x="0" y="0"/>
                </a:moveTo>
                <a:lnTo>
                  <a:pt x="2897780" y="0"/>
                </a:lnTo>
                <a:lnTo>
                  <a:pt x="2897780" y="2897780"/>
                </a:lnTo>
                <a:lnTo>
                  <a:pt x="0" y="28977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216853" y="5955347"/>
            <a:ext cx="4331653" cy="4331653"/>
          </a:xfrm>
          <a:custGeom>
            <a:avLst/>
            <a:gdLst/>
            <a:ahLst/>
            <a:cxnLst/>
            <a:rect r="r" b="b" t="t" l="l"/>
            <a:pathLst>
              <a:path h="4331653" w="4331653">
                <a:moveTo>
                  <a:pt x="0" y="0"/>
                </a:moveTo>
                <a:lnTo>
                  <a:pt x="4331653" y="0"/>
                </a:lnTo>
                <a:lnTo>
                  <a:pt x="4331653" y="4331653"/>
                </a:lnTo>
                <a:lnTo>
                  <a:pt x="0" y="43316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1028700" y="1028700"/>
            <a:ext cx="16230600" cy="8229600"/>
            <a:chOff x="0" y="0"/>
            <a:chExt cx="4274726" cy="2167467"/>
          </a:xfrm>
        </p:grpSpPr>
        <p:sp>
          <p:nvSpPr>
            <p:cNvPr name="Freeform 7" id="7"/>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alpha val="76863"/>
              </a:srgbClr>
            </a:solidFill>
          </p:spPr>
        </p:sp>
        <p:sp>
          <p:nvSpPr>
            <p:cNvPr name="TextBox 8" id="8"/>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2357385" y="2290420"/>
            <a:ext cx="960641" cy="406962"/>
          </a:xfrm>
          <a:custGeom>
            <a:avLst/>
            <a:gdLst/>
            <a:ahLst/>
            <a:cxnLst/>
            <a:rect r="r" b="b" t="t" l="l"/>
            <a:pathLst>
              <a:path h="406962" w="960641">
                <a:moveTo>
                  <a:pt x="0" y="0"/>
                </a:moveTo>
                <a:lnTo>
                  <a:pt x="960640" y="0"/>
                </a:lnTo>
                <a:lnTo>
                  <a:pt x="960640" y="406962"/>
                </a:lnTo>
                <a:lnTo>
                  <a:pt x="0" y="4069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7274840">
            <a:off x="14679307" y="1014075"/>
            <a:ext cx="5446613" cy="3018882"/>
          </a:xfrm>
          <a:custGeom>
            <a:avLst/>
            <a:gdLst/>
            <a:ahLst/>
            <a:cxnLst/>
            <a:rect r="r" b="b" t="t" l="l"/>
            <a:pathLst>
              <a:path h="3018882" w="5446613">
                <a:moveTo>
                  <a:pt x="0" y="0"/>
                </a:moveTo>
                <a:lnTo>
                  <a:pt x="5446614" y="0"/>
                </a:lnTo>
                <a:lnTo>
                  <a:pt x="5446614" y="3018881"/>
                </a:lnTo>
                <a:lnTo>
                  <a:pt x="0" y="301888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1" id="11"/>
          <p:cNvGrpSpPr/>
          <p:nvPr/>
        </p:nvGrpSpPr>
        <p:grpSpPr>
          <a:xfrm rot="0">
            <a:off x="9020201" y="1028700"/>
            <a:ext cx="8229600" cy="8229600"/>
            <a:chOff x="0" y="0"/>
            <a:chExt cx="6350000" cy="6350000"/>
          </a:xfrm>
        </p:grpSpPr>
        <p:sp>
          <p:nvSpPr>
            <p:cNvPr name="Freeform 12" id="12"/>
            <p:cNvSpPr/>
            <p:nvPr/>
          </p:nvSpPr>
          <p:spPr>
            <a:xfrm flipH="false" flipV="false" rot="0">
              <a:off x="-95377" y="-95377"/>
              <a:ext cx="6540754" cy="6540754"/>
            </a:xfrm>
            <a:custGeom>
              <a:avLst/>
              <a:gdLst/>
              <a:ahLst/>
              <a:cxnLst/>
              <a:rect r="r" b="b" t="t" l="l"/>
              <a:pathLst>
                <a:path h="6540754" w="6540754">
                  <a:moveTo>
                    <a:pt x="6540754" y="0"/>
                  </a:moveTo>
                  <a:lnTo>
                    <a:pt x="0" y="6540754"/>
                  </a:lnTo>
                  <a:lnTo>
                    <a:pt x="6540754" y="6540754"/>
                  </a:lnTo>
                  <a:close/>
                </a:path>
              </a:pathLst>
            </a:custGeom>
            <a:blipFill>
              <a:blip r:embed="rId11"/>
              <a:stretch>
                <a:fillRect l="-25046" t="0" r="-25046" b="0"/>
              </a:stretch>
            </a:blipFill>
          </p:spPr>
        </p:sp>
      </p:grpSp>
      <p:sp>
        <p:nvSpPr>
          <p:cNvPr name="Freeform 13" id="13"/>
          <p:cNvSpPr/>
          <p:nvPr/>
        </p:nvSpPr>
        <p:spPr>
          <a:xfrm flipH="true" flipV="false" rot="0">
            <a:off x="15571685" y="8921151"/>
            <a:ext cx="1678116" cy="674298"/>
          </a:xfrm>
          <a:custGeom>
            <a:avLst/>
            <a:gdLst/>
            <a:ahLst/>
            <a:cxnLst/>
            <a:rect r="r" b="b" t="t" l="l"/>
            <a:pathLst>
              <a:path h="674298" w="1678116">
                <a:moveTo>
                  <a:pt x="1678116" y="0"/>
                </a:moveTo>
                <a:lnTo>
                  <a:pt x="0" y="0"/>
                </a:lnTo>
                <a:lnTo>
                  <a:pt x="0" y="674298"/>
                </a:lnTo>
                <a:lnTo>
                  <a:pt x="1678116" y="674298"/>
                </a:lnTo>
                <a:lnTo>
                  <a:pt x="1678116"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948974" y="3609943"/>
            <a:ext cx="7315200" cy="391449"/>
          </a:xfrm>
          <a:custGeom>
            <a:avLst/>
            <a:gdLst/>
            <a:ahLst/>
            <a:cxnLst/>
            <a:rect r="r" b="b" t="t" l="l"/>
            <a:pathLst>
              <a:path h="391449" w="7315200">
                <a:moveTo>
                  <a:pt x="0" y="0"/>
                </a:moveTo>
                <a:lnTo>
                  <a:pt x="7315200" y="0"/>
                </a:lnTo>
                <a:lnTo>
                  <a:pt x="7315200" y="391449"/>
                </a:lnTo>
                <a:lnTo>
                  <a:pt x="0" y="3914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5" id="15"/>
          <p:cNvSpPr txBox="true"/>
          <p:nvPr/>
        </p:nvSpPr>
        <p:spPr>
          <a:xfrm rot="0">
            <a:off x="2357385" y="2876704"/>
            <a:ext cx="8010958" cy="733239"/>
          </a:xfrm>
          <a:prstGeom prst="rect">
            <a:avLst/>
          </a:prstGeom>
        </p:spPr>
        <p:txBody>
          <a:bodyPr anchor="t" rtlCol="false" tIns="0" lIns="0" bIns="0" rIns="0">
            <a:spAutoFit/>
          </a:bodyPr>
          <a:lstStyle/>
          <a:p>
            <a:pPr algn="l">
              <a:lnSpc>
                <a:spcPts val="5543"/>
              </a:lnSpc>
            </a:pPr>
            <a:r>
              <a:rPr lang="en-US" sz="5181" b="true">
                <a:solidFill>
                  <a:srgbClr val="000000"/>
                </a:solidFill>
                <a:latin typeface="Bebas Neue Bold"/>
                <a:ea typeface="Bebas Neue Bold"/>
                <a:cs typeface="Bebas Neue Bold"/>
                <a:sym typeface="Bebas Neue Bold"/>
              </a:rPr>
              <a:t>Project</a:t>
            </a:r>
            <a:r>
              <a:rPr lang="en-US" sz="5181" b="true">
                <a:solidFill>
                  <a:srgbClr val="000000"/>
                </a:solidFill>
                <a:latin typeface="Bebas Neue Bold"/>
                <a:ea typeface="Bebas Neue Bold"/>
                <a:cs typeface="Bebas Neue Bold"/>
                <a:sym typeface="Bebas Neue Bold"/>
              </a:rPr>
              <a:t> Objectives</a:t>
            </a:r>
          </a:p>
        </p:txBody>
      </p:sp>
      <p:sp>
        <p:nvSpPr>
          <p:cNvPr name="TextBox 16" id="16"/>
          <p:cNvSpPr txBox="true"/>
          <p:nvPr/>
        </p:nvSpPr>
        <p:spPr>
          <a:xfrm rot="0">
            <a:off x="2237211" y="4096642"/>
            <a:ext cx="6906789" cy="2987652"/>
          </a:xfrm>
          <a:prstGeom prst="rect">
            <a:avLst/>
          </a:prstGeom>
        </p:spPr>
        <p:txBody>
          <a:bodyPr anchor="t" rtlCol="false" tIns="0" lIns="0" bIns="0" rIns="0">
            <a:spAutoFit/>
          </a:bodyPr>
          <a:lstStyle/>
          <a:p>
            <a:pPr algn="l" marL="539996" indent="-269998" lvl="1">
              <a:lnSpc>
                <a:spcPts val="3401"/>
              </a:lnSpc>
              <a:buFont typeface="Arial"/>
              <a:buChar char="•"/>
            </a:pPr>
            <a:r>
              <a:rPr lang="en-US" sz="2501">
                <a:solidFill>
                  <a:srgbClr val="000000"/>
                </a:solidFill>
                <a:latin typeface="Barlow Condensed"/>
                <a:ea typeface="Barlow Condensed"/>
                <a:cs typeface="Barlow Condensed"/>
                <a:sym typeface="Barlow Condensed"/>
              </a:rPr>
              <a:t>Understand and use Excel functions for financial analysis. </a:t>
            </a:r>
          </a:p>
          <a:p>
            <a:pPr algn="l" marL="539996" indent="-269998" lvl="1">
              <a:lnSpc>
                <a:spcPts val="3401"/>
              </a:lnSpc>
              <a:buFont typeface="Arial"/>
              <a:buChar char="•"/>
            </a:pPr>
            <a:r>
              <a:rPr lang="en-US" sz="2501">
                <a:solidFill>
                  <a:srgbClr val="000000"/>
                </a:solidFill>
                <a:latin typeface="Barlow Condensed"/>
                <a:ea typeface="Barlow Condensed"/>
                <a:cs typeface="Barlow Condensed"/>
                <a:sym typeface="Barlow Condensed"/>
              </a:rPr>
              <a:t>Calculate present value, net present value, and internal rate of return for different scenarios. </a:t>
            </a:r>
          </a:p>
          <a:p>
            <a:pPr algn="l" marL="539996" indent="-269998" lvl="1">
              <a:lnSpc>
                <a:spcPts val="3401"/>
              </a:lnSpc>
              <a:buFont typeface="Arial"/>
              <a:buChar char="•"/>
            </a:pPr>
            <a:r>
              <a:rPr lang="en-US" sz="2501">
                <a:solidFill>
                  <a:srgbClr val="000000"/>
                </a:solidFill>
                <a:latin typeface="Barlow Condensed"/>
                <a:ea typeface="Barlow Condensed"/>
                <a:cs typeface="Barlow Condensed"/>
                <a:sym typeface="Barlow Condensed"/>
              </a:rPr>
              <a:t>Determine the effective interest rate, loan term, and EMI for given financial data. </a:t>
            </a:r>
          </a:p>
          <a:p>
            <a:pPr algn="l" marL="539996" indent="-269998" lvl="1">
              <a:lnSpc>
                <a:spcPts val="3401"/>
              </a:lnSpc>
              <a:buFont typeface="Arial"/>
              <a:buChar char="•"/>
            </a:pPr>
            <a:r>
              <a:rPr lang="en-US" sz="2501">
                <a:solidFill>
                  <a:srgbClr val="000000"/>
                </a:solidFill>
                <a:latin typeface="Barlow Condensed"/>
                <a:ea typeface="Barlow Condensed"/>
                <a:cs typeface="Barlow Condensed"/>
                <a:sym typeface="Barlow Condensed"/>
              </a:rPr>
              <a:t>Generate a detailed summary report of insights and analysis.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false" flipV="false" rot="7274840">
            <a:off x="14679307" y="1014075"/>
            <a:ext cx="5446613" cy="3018882"/>
          </a:xfrm>
          <a:custGeom>
            <a:avLst/>
            <a:gdLst/>
            <a:ahLst/>
            <a:cxnLst/>
            <a:rect r="r" b="b" t="t" l="l"/>
            <a:pathLst>
              <a:path h="3018882" w="5446613">
                <a:moveTo>
                  <a:pt x="0" y="0"/>
                </a:moveTo>
                <a:lnTo>
                  <a:pt x="5446614" y="0"/>
                </a:lnTo>
                <a:lnTo>
                  <a:pt x="5446614" y="3018881"/>
                </a:lnTo>
                <a:lnTo>
                  <a:pt x="0" y="30188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225471">
            <a:off x="3345890" y="-420190"/>
            <a:ext cx="2897781" cy="2897781"/>
          </a:xfrm>
          <a:custGeom>
            <a:avLst/>
            <a:gdLst/>
            <a:ahLst/>
            <a:cxnLst/>
            <a:rect r="r" b="b" t="t" l="l"/>
            <a:pathLst>
              <a:path h="2897781" w="2897781">
                <a:moveTo>
                  <a:pt x="0" y="0"/>
                </a:moveTo>
                <a:lnTo>
                  <a:pt x="2897780" y="0"/>
                </a:lnTo>
                <a:lnTo>
                  <a:pt x="2897780" y="2897780"/>
                </a:lnTo>
                <a:lnTo>
                  <a:pt x="0" y="28977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5691543">
            <a:off x="-309401" y="-914380"/>
            <a:ext cx="3886160" cy="3886160"/>
          </a:xfrm>
          <a:custGeom>
            <a:avLst/>
            <a:gdLst/>
            <a:ahLst/>
            <a:cxnLst/>
            <a:rect r="r" b="b" t="t" l="l"/>
            <a:pathLst>
              <a:path h="3886160" w="3886160">
                <a:moveTo>
                  <a:pt x="3886160" y="0"/>
                </a:moveTo>
                <a:lnTo>
                  <a:pt x="0" y="0"/>
                </a:lnTo>
                <a:lnTo>
                  <a:pt x="0" y="3886160"/>
                </a:lnTo>
                <a:lnTo>
                  <a:pt x="3886160" y="3886160"/>
                </a:lnTo>
                <a:lnTo>
                  <a:pt x="38861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1028700" y="1028700"/>
            <a:ext cx="16230600" cy="8229600"/>
            <a:chOff x="0" y="0"/>
            <a:chExt cx="4274726" cy="2167467"/>
          </a:xfrm>
        </p:grpSpPr>
        <p:sp>
          <p:nvSpPr>
            <p:cNvPr name="Freeform 7" id="7"/>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alpha val="76863"/>
              </a:srgbClr>
            </a:solidFill>
          </p:spPr>
        </p:sp>
        <p:sp>
          <p:nvSpPr>
            <p:cNvPr name="TextBox 8" id="8"/>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9" id="9"/>
          <p:cNvGrpSpPr>
            <a:grpSpLocks noChangeAspect="true"/>
          </p:cNvGrpSpPr>
          <p:nvPr/>
        </p:nvGrpSpPr>
        <p:grpSpPr>
          <a:xfrm rot="0">
            <a:off x="1028700" y="1028700"/>
            <a:ext cx="9326879" cy="5246370"/>
            <a:chOff x="0" y="0"/>
            <a:chExt cx="6089457" cy="3425320"/>
          </a:xfrm>
        </p:grpSpPr>
        <p:sp>
          <p:nvSpPr>
            <p:cNvPr name="Freeform 10" id="10"/>
            <p:cNvSpPr/>
            <p:nvPr/>
          </p:nvSpPr>
          <p:spPr>
            <a:xfrm flipH="false" flipV="false" rot="0">
              <a:off x="0" y="0"/>
              <a:ext cx="6089457" cy="3425320"/>
            </a:xfrm>
            <a:custGeom>
              <a:avLst/>
              <a:gdLst/>
              <a:ahLst/>
              <a:cxnLst/>
              <a:rect r="r" b="b" t="t" l="l"/>
              <a:pathLst>
                <a:path h="3425320" w="6089457">
                  <a:moveTo>
                    <a:pt x="0" y="3425320"/>
                  </a:moveTo>
                  <a:lnTo>
                    <a:pt x="0" y="0"/>
                  </a:lnTo>
                  <a:lnTo>
                    <a:pt x="6089457" y="0"/>
                  </a:lnTo>
                  <a:cubicBezTo>
                    <a:pt x="4059638" y="1141773"/>
                    <a:pt x="2029819" y="2283546"/>
                    <a:pt x="0" y="3425320"/>
                  </a:cubicBezTo>
                  <a:close/>
                </a:path>
              </a:pathLst>
            </a:custGeom>
            <a:solidFill>
              <a:srgbClr val="F9D549"/>
            </a:solidFill>
          </p:spPr>
        </p:sp>
        <p:sp>
          <p:nvSpPr>
            <p:cNvPr name="Freeform 11" id="11"/>
            <p:cNvSpPr/>
            <p:nvPr/>
          </p:nvSpPr>
          <p:spPr>
            <a:xfrm flipH="false" flipV="false" rot="0">
              <a:off x="0" y="0"/>
              <a:ext cx="6089457" cy="3425320"/>
            </a:xfrm>
            <a:custGeom>
              <a:avLst/>
              <a:gdLst/>
              <a:ahLst/>
              <a:cxnLst/>
              <a:rect r="r" b="b" t="t" l="l"/>
              <a:pathLst>
                <a:path h="3425320" w="6089457">
                  <a:moveTo>
                    <a:pt x="0" y="3425320"/>
                  </a:moveTo>
                  <a:lnTo>
                    <a:pt x="0" y="0"/>
                  </a:lnTo>
                  <a:lnTo>
                    <a:pt x="6089457" y="0"/>
                  </a:lnTo>
                  <a:cubicBezTo>
                    <a:pt x="4059638" y="1141773"/>
                    <a:pt x="2029819" y="2283546"/>
                    <a:pt x="0" y="3425320"/>
                  </a:cubicBezTo>
                  <a:close/>
                </a:path>
              </a:pathLst>
            </a:custGeom>
            <a:blipFill>
              <a:blip r:embed="rId7"/>
              <a:stretch>
                <a:fillRect l="-35041" t="-59949" r="0" b="0"/>
              </a:stretch>
            </a:blipFill>
          </p:spPr>
        </p:sp>
      </p:grpSp>
      <p:sp>
        <p:nvSpPr>
          <p:cNvPr name="Freeform 12" id="12"/>
          <p:cNvSpPr/>
          <p:nvPr/>
        </p:nvSpPr>
        <p:spPr>
          <a:xfrm flipH="false" flipV="false" rot="0">
            <a:off x="9144000" y="1908081"/>
            <a:ext cx="960641" cy="406962"/>
          </a:xfrm>
          <a:custGeom>
            <a:avLst/>
            <a:gdLst/>
            <a:ahLst/>
            <a:cxnLst/>
            <a:rect r="r" b="b" t="t" l="l"/>
            <a:pathLst>
              <a:path h="406962" w="960641">
                <a:moveTo>
                  <a:pt x="0" y="0"/>
                </a:moveTo>
                <a:lnTo>
                  <a:pt x="960641" y="0"/>
                </a:lnTo>
                <a:lnTo>
                  <a:pt x="960641" y="406962"/>
                </a:lnTo>
                <a:lnTo>
                  <a:pt x="0" y="4069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5400000">
            <a:off x="-216853" y="5955347"/>
            <a:ext cx="4331653" cy="4331653"/>
          </a:xfrm>
          <a:custGeom>
            <a:avLst/>
            <a:gdLst/>
            <a:ahLst/>
            <a:cxnLst/>
            <a:rect r="r" b="b" t="t" l="l"/>
            <a:pathLst>
              <a:path h="4331653" w="4331653">
                <a:moveTo>
                  <a:pt x="0" y="0"/>
                </a:moveTo>
                <a:lnTo>
                  <a:pt x="4331653" y="0"/>
                </a:lnTo>
                <a:lnTo>
                  <a:pt x="4331653" y="4331653"/>
                </a:lnTo>
                <a:lnTo>
                  <a:pt x="0" y="433165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true" flipV="false" rot="0">
            <a:off x="15571685" y="8921151"/>
            <a:ext cx="1678116" cy="674298"/>
          </a:xfrm>
          <a:custGeom>
            <a:avLst/>
            <a:gdLst/>
            <a:ahLst/>
            <a:cxnLst/>
            <a:rect r="r" b="b" t="t" l="l"/>
            <a:pathLst>
              <a:path h="674298" w="1678116">
                <a:moveTo>
                  <a:pt x="1678116" y="0"/>
                </a:moveTo>
                <a:lnTo>
                  <a:pt x="0" y="0"/>
                </a:lnTo>
                <a:lnTo>
                  <a:pt x="0" y="674298"/>
                </a:lnTo>
                <a:lnTo>
                  <a:pt x="1678116" y="674298"/>
                </a:lnTo>
                <a:lnTo>
                  <a:pt x="1678116"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9144000" y="3167485"/>
            <a:ext cx="7315200" cy="391449"/>
          </a:xfrm>
          <a:custGeom>
            <a:avLst/>
            <a:gdLst/>
            <a:ahLst/>
            <a:cxnLst/>
            <a:rect r="r" b="b" t="t" l="l"/>
            <a:pathLst>
              <a:path h="391449" w="7315200">
                <a:moveTo>
                  <a:pt x="0" y="0"/>
                </a:moveTo>
                <a:lnTo>
                  <a:pt x="7315200" y="0"/>
                </a:lnTo>
                <a:lnTo>
                  <a:pt x="7315200" y="391449"/>
                </a:lnTo>
                <a:lnTo>
                  <a:pt x="0" y="3914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6" id="16"/>
          <p:cNvSpPr txBox="true"/>
          <p:nvPr/>
        </p:nvSpPr>
        <p:spPr>
          <a:xfrm rot="0">
            <a:off x="9144000" y="2396146"/>
            <a:ext cx="7080715" cy="733239"/>
          </a:xfrm>
          <a:prstGeom prst="rect">
            <a:avLst/>
          </a:prstGeom>
        </p:spPr>
        <p:txBody>
          <a:bodyPr anchor="t" rtlCol="false" tIns="0" lIns="0" bIns="0" rIns="0">
            <a:spAutoFit/>
          </a:bodyPr>
          <a:lstStyle/>
          <a:p>
            <a:pPr algn="l">
              <a:lnSpc>
                <a:spcPts val="5543"/>
              </a:lnSpc>
            </a:pPr>
            <a:r>
              <a:rPr lang="en-US" sz="5181" b="true">
                <a:solidFill>
                  <a:srgbClr val="000000"/>
                </a:solidFill>
                <a:latin typeface="Bebas Neue Bold"/>
                <a:ea typeface="Bebas Neue Bold"/>
                <a:cs typeface="Bebas Neue Bold"/>
                <a:sym typeface="Bebas Neue Bold"/>
              </a:rPr>
              <a:t>Key F</a:t>
            </a:r>
            <a:r>
              <a:rPr lang="en-US" sz="5181" b="true">
                <a:solidFill>
                  <a:srgbClr val="000000"/>
                </a:solidFill>
                <a:latin typeface="Bebas Neue Bold"/>
                <a:ea typeface="Bebas Neue Bold"/>
                <a:cs typeface="Bebas Neue Bold"/>
                <a:sym typeface="Bebas Neue Bold"/>
              </a:rPr>
              <a:t>inancial Concepts</a:t>
            </a:r>
          </a:p>
        </p:txBody>
      </p:sp>
      <p:sp>
        <p:nvSpPr>
          <p:cNvPr name="TextBox 17" id="17"/>
          <p:cNvSpPr txBox="true"/>
          <p:nvPr/>
        </p:nvSpPr>
        <p:spPr>
          <a:xfrm rot="0">
            <a:off x="2783298" y="4315075"/>
            <a:ext cx="14466503" cy="4112237"/>
          </a:xfrm>
          <a:prstGeom prst="rect">
            <a:avLst/>
          </a:prstGeom>
        </p:spPr>
        <p:txBody>
          <a:bodyPr anchor="t" rtlCol="false" tIns="0" lIns="0" bIns="0" rIns="0">
            <a:spAutoFit/>
          </a:bodyPr>
          <a:lstStyle/>
          <a:p>
            <a:pPr algn="l">
              <a:lnSpc>
                <a:spcPts val="2721"/>
              </a:lnSpc>
            </a:pPr>
            <a:r>
              <a:rPr lang="en-US" sz="2001" b="true">
                <a:solidFill>
                  <a:srgbClr val="000000"/>
                </a:solidFill>
                <a:latin typeface="Canva Sans Bold"/>
                <a:ea typeface="Canva Sans Bold"/>
                <a:cs typeface="Canva Sans Bold"/>
                <a:sym typeface="Canva Sans Bold"/>
              </a:rPr>
              <a:t>Present Value (PV)</a:t>
            </a:r>
            <a:r>
              <a:rPr lang="en-US" sz="2001">
                <a:solidFill>
                  <a:srgbClr val="000000"/>
                </a:solidFill>
                <a:latin typeface="Canva Sans"/>
                <a:ea typeface="Canva Sans"/>
                <a:cs typeface="Canva Sans"/>
                <a:sym typeface="Canva Sans"/>
              </a:rPr>
              <a:t> - The present value is the total amount that a series of future payments is worth now.</a:t>
            </a:r>
          </a:p>
          <a:p>
            <a:pPr algn="l">
              <a:lnSpc>
                <a:spcPts val="2721"/>
              </a:lnSpc>
            </a:pPr>
            <a:r>
              <a:rPr lang="en-US" sz="2001" b="true">
                <a:solidFill>
                  <a:srgbClr val="000000"/>
                </a:solidFill>
                <a:latin typeface="Canva Sans Bold"/>
                <a:ea typeface="Canva Sans Bold"/>
                <a:cs typeface="Canva Sans Bold"/>
                <a:sym typeface="Canva Sans Bold"/>
              </a:rPr>
              <a:t>Net Present Value (NPV)</a:t>
            </a:r>
            <a:r>
              <a:rPr lang="en-US" sz="2001">
                <a:solidFill>
                  <a:srgbClr val="000000"/>
                </a:solidFill>
                <a:latin typeface="Canva Sans"/>
                <a:ea typeface="Canva Sans"/>
                <a:cs typeface="Canva Sans"/>
                <a:sym typeface="Canva Sans"/>
              </a:rPr>
              <a:t> - NPV calculates the net present value of an investment based on a discount rate and a series of future payments and incomes. </a:t>
            </a:r>
          </a:p>
          <a:p>
            <a:pPr algn="l">
              <a:lnSpc>
                <a:spcPts val="2721"/>
              </a:lnSpc>
            </a:pPr>
            <a:r>
              <a:rPr lang="en-US" sz="2001" b="true">
                <a:solidFill>
                  <a:srgbClr val="000000"/>
                </a:solidFill>
                <a:latin typeface="Canva Sans Bold"/>
                <a:ea typeface="Canva Sans Bold"/>
                <a:cs typeface="Canva Sans Bold"/>
                <a:sym typeface="Canva Sans Bold"/>
              </a:rPr>
              <a:t>XNPV </a:t>
            </a:r>
            <a:r>
              <a:rPr lang="en-US" sz="2001">
                <a:solidFill>
                  <a:srgbClr val="000000"/>
                </a:solidFill>
                <a:latin typeface="Canva Sans"/>
                <a:ea typeface="Canva Sans"/>
                <a:cs typeface="Canva Sans"/>
                <a:sym typeface="Canva Sans"/>
              </a:rPr>
              <a:t>- XNPV calculates the net present value for a schedule of cash flows that are not necessarily periodic. Equated </a:t>
            </a:r>
            <a:r>
              <a:rPr lang="en-US" sz="2001" b="true">
                <a:solidFill>
                  <a:srgbClr val="000000"/>
                </a:solidFill>
                <a:latin typeface="Canva Sans Bold"/>
                <a:ea typeface="Canva Sans Bold"/>
                <a:cs typeface="Canva Sans Bold"/>
                <a:sym typeface="Canva Sans Bold"/>
              </a:rPr>
              <a:t>Monthly Installment (EMI)</a:t>
            </a:r>
            <a:r>
              <a:rPr lang="en-US" sz="2001">
                <a:solidFill>
                  <a:srgbClr val="000000"/>
                </a:solidFill>
                <a:latin typeface="Canva Sans"/>
                <a:ea typeface="Canva Sans"/>
                <a:cs typeface="Canva Sans"/>
                <a:sym typeface="Canva Sans"/>
              </a:rPr>
              <a:t> - An EMI is a fixed payment amount made by a borrower to a lender at a specified date each calendar month. </a:t>
            </a:r>
          </a:p>
          <a:p>
            <a:pPr algn="l">
              <a:lnSpc>
                <a:spcPts val="2721"/>
              </a:lnSpc>
            </a:pPr>
            <a:r>
              <a:rPr lang="en-US" sz="2001" b="true">
                <a:solidFill>
                  <a:srgbClr val="000000"/>
                </a:solidFill>
                <a:latin typeface="Canva Sans Bold"/>
                <a:ea typeface="Canva Sans Bold"/>
                <a:cs typeface="Canva Sans Bold"/>
                <a:sym typeface="Canva Sans Bold"/>
              </a:rPr>
              <a:t>Interest and Principal Components of EMI</a:t>
            </a:r>
            <a:r>
              <a:rPr lang="en-US" sz="2001">
                <a:solidFill>
                  <a:srgbClr val="000000"/>
                </a:solidFill>
                <a:latin typeface="Canva Sans"/>
                <a:ea typeface="Canva Sans"/>
                <a:cs typeface="Canva Sans"/>
                <a:sym typeface="Canva Sans"/>
              </a:rPr>
              <a:t> - To calculate the interest and principal parts of the EMI.</a:t>
            </a:r>
          </a:p>
          <a:p>
            <a:pPr algn="l">
              <a:lnSpc>
                <a:spcPts val="2721"/>
              </a:lnSpc>
            </a:pPr>
            <a:r>
              <a:rPr lang="en-US" sz="2001" b="true">
                <a:solidFill>
                  <a:srgbClr val="000000"/>
                </a:solidFill>
                <a:latin typeface="Canva Sans Bold"/>
                <a:ea typeface="Canva Sans Bold"/>
                <a:cs typeface="Canva Sans Bold"/>
                <a:sym typeface="Canva Sans Bold"/>
              </a:rPr>
              <a:t>Calculating Interest Rate</a:t>
            </a:r>
            <a:r>
              <a:rPr lang="en-US" sz="2001">
                <a:solidFill>
                  <a:srgbClr val="000000"/>
                </a:solidFill>
                <a:latin typeface="Canva Sans"/>
                <a:ea typeface="Canva Sans"/>
                <a:cs typeface="Canva Sans"/>
                <a:sym typeface="Canva Sans"/>
              </a:rPr>
              <a:t> - To find the interest rate required to pay back a loan. </a:t>
            </a:r>
          </a:p>
          <a:p>
            <a:pPr algn="l">
              <a:lnSpc>
                <a:spcPts val="2721"/>
              </a:lnSpc>
            </a:pPr>
            <a:r>
              <a:rPr lang="en-US" sz="2001" b="true">
                <a:solidFill>
                  <a:srgbClr val="000000"/>
                </a:solidFill>
                <a:latin typeface="Canva Sans Bold"/>
                <a:ea typeface="Canva Sans Bold"/>
                <a:cs typeface="Canva Sans Bold"/>
                <a:sym typeface="Canva Sans Bold"/>
              </a:rPr>
              <a:t>Calculating Loan Term</a:t>
            </a:r>
            <a:r>
              <a:rPr lang="en-US" sz="2001">
                <a:solidFill>
                  <a:srgbClr val="000000"/>
                </a:solidFill>
                <a:latin typeface="Canva Sans"/>
                <a:ea typeface="Canva Sans"/>
                <a:cs typeface="Canva Sans"/>
                <a:sym typeface="Canva Sans"/>
              </a:rPr>
              <a:t> - To determine the number of payments required to clear a loan. </a:t>
            </a:r>
          </a:p>
          <a:p>
            <a:pPr algn="l">
              <a:lnSpc>
                <a:spcPts val="2721"/>
              </a:lnSpc>
            </a:pPr>
            <a:r>
              <a:rPr lang="en-US" sz="2001" b="true">
                <a:solidFill>
                  <a:srgbClr val="000000"/>
                </a:solidFill>
                <a:latin typeface="Canva Sans Bold"/>
                <a:ea typeface="Canva Sans Bold"/>
                <a:cs typeface="Canva Sans Bold"/>
                <a:sym typeface="Canva Sans Bold"/>
              </a:rPr>
              <a:t>Internal Rate of Return (IRR)</a:t>
            </a:r>
            <a:r>
              <a:rPr lang="en-US" sz="2001">
                <a:solidFill>
                  <a:srgbClr val="000000"/>
                </a:solidFill>
                <a:latin typeface="Canva Sans"/>
                <a:ea typeface="Canva Sans"/>
                <a:cs typeface="Canva Sans"/>
                <a:sym typeface="Canva Sans"/>
              </a:rPr>
              <a:t> - IRR is the rate of interest at which NPV is zero. </a:t>
            </a:r>
          </a:p>
          <a:p>
            <a:pPr algn="l">
              <a:lnSpc>
                <a:spcPts val="2721"/>
              </a:lnSpc>
            </a:pPr>
            <a:r>
              <a:rPr lang="en-US" sz="2001" b="true">
                <a:solidFill>
                  <a:srgbClr val="000000"/>
                </a:solidFill>
                <a:latin typeface="Canva Sans Bold"/>
                <a:ea typeface="Canva Sans Bold"/>
                <a:cs typeface="Canva Sans Bold"/>
                <a:sym typeface="Canva Sans Bold"/>
              </a:rPr>
              <a:t>XIRR </a:t>
            </a:r>
            <a:r>
              <a:rPr lang="en-US" sz="2001">
                <a:solidFill>
                  <a:srgbClr val="000000"/>
                </a:solidFill>
                <a:latin typeface="Canva Sans"/>
                <a:ea typeface="Canva Sans"/>
                <a:cs typeface="Canva Sans"/>
                <a:sym typeface="Canva Sans"/>
              </a:rPr>
              <a:t>- To calculate the IRR for irregularly spaced cash flows.</a:t>
            </a:r>
          </a:p>
          <a:p>
            <a:pPr algn="l">
              <a:lnSpc>
                <a:spcPts val="2721"/>
              </a:lnSpc>
            </a:pPr>
            <a:r>
              <a:rPr lang="en-US" sz="2001" b="true">
                <a:solidFill>
                  <a:srgbClr val="000000"/>
                </a:solidFill>
                <a:latin typeface="Canva Sans Bold"/>
                <a:ea typeface="Canva Sans Bold"/>
                <a:cs typeface="Canva Sans Bold"/>
                <a:sym typeface="Canva Sans Bold"/>
              </a:rPr>
              <a:t>Modified IRR (MIRR)</a:t>
            </a:r>
            <a:r>
              <a:rPr lang="en-US" sz="2001">
                <a:solidFill>
                  <a:srgbClr val="000000"/>
                </a:solidFill>
                <a:latin typeface="Canva Sans"/>
                <a:ea typeface="Canva Sans"/>
                <a:cs typeface="Canva Sans"/>
                <a:sym typeface="Canva Sans"/>
              </a:rPr>
              <a:t> - MIRR takes into account different finance and reinvestment rates. </a:t>
            </a:r>
          </a:p>
        </p:txBody>
      </p:sp>
      <p:sp>
        <p:nvSpPr>
          <p:cNvPr name="TextBox 18" id="18"/>
          <p:cNvSpPr txBox="true"/>
          <p:nvPr/>
        </p:nvSpPr>
        <p:spPr>
          <a:xfrm rot="0">
            <a:off x="2783298" y="3658485"/>
            <a:ext cx="14466503" cy="656590"/>
          </a:xfrm>
          <a:prstGeom prst="rect">
            <a:avLst/>
          </a:prstGeom>
        </p:spPr>
        <p:txBody>
          <a:bodyPr anchor="t" rtlCol="false" tIns="0" lIns="0" bIns="0" rIns="0">
            <a:spAutoFit/>
          </a:bodyPr>
          <a:lstStyle/>
          <a:p>
            <a:pPr algn="l">
              <a:lnSpc>
                <a:spcPts val="2659"/>
              </a:lnSpc>
              <a:spcBef>
                <a:spcPct val="0"/>
              </a:spcBef>
            </a:pPr>
            <a:r>
              <a:rPr lang="en-US" sz="1899">
                <a:solidFill>
                  <a:srgbClr val="000000"/>
                </a:solidFill>
                <a:latin typeface="Canva Sans"/>
                <a:ea typeface="Canva Sans"/>
                <a:cs typeface="Canva Sans"/>
                <a:sym typeface="Canva Sans"/>
              </a:rPr>
              <a:t> </a:t>
            </a:r>
            <a:r>
              <a:rPr lang="en-US" b="true" sz="1899">
                <a:solidFill>
                  <a:srgbClr val="000000"/>
                </a:solidFill>
                <a:latin typeface="Canva Sans Bold"/>
                <a:ea typeface="Canva Sans Bold"/>
                <a:cs typeface="Canva Sans Bold"/>
                <a:sym typeface="Canva Sans Bold"/>
              </a:rPr>
              <a:t>Annuity </a:t>
            </a:r>
            <a:r>
              <a:rPr lang="en-US" sz="1899">
                <a:solidFill>
                  <a:srgbClr val="000000"/>
                </a:solidFill>
                <a:latin typeface="Canva Sans"/>
                <a:ea typeface="Canva Sans"/>
                <a:cs typeface="Canva Sans"/>
                <a:sym typeface="Canva Sans"/>
              </a:rPr>
              <a:t>- An annuity is a series of constant cash payments made over a continuous period, such as retirement savings, insurance payments, or mortgage payments.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false" flipV="false" rot="7274840">
            <a:off x="14679307" y="1014075"/>
            <a:ext cx="5446613" cy="3018882"/>
          </a:xfrm>
          <a:custGeom>
            <a:avLst/>
            <a:gdLst/>
            <a:ahLst/>
            <a:cxnLst/>
            <a:rect r="r" b="b" t="t" l="l"/>
            <a:pathLst>
              <a:path h="3018882" w="5446613">
                <a:moveTo>
                  <a:pt x="0" y="0"/>
                </a:moveTo>
                <a:lnTo>
                  <a:pt x="5446614" y="0"/>
                </a:lnTo>
                <a:lnTo>
                  <a:pt x="5446614" y="3018881"/>
                </a:lnTo>
                <a:lnTo>
                  <a:pt x="0" y="30188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225471">
            <a:off x="3345890" y="-420190"/>
            <a:ext cx="2897781" cy="2897781"/>
          </a:xfrm>
          <a:custGeom>
            <a:avLst/>
            <a:gdLst/>
            <a:ahLst/>
            <a:cxnLst/>
            <a:rect r="r" b="b" t="t" l="l"/>
            <a:pathLst>
              <a:path h="2897781" w="2897781">
                <a:moveTo>
                  <a:pt x="0" y="0"/>
                </a:moveTo>
                <a:lnTo>
                  <a:pt x="2897780" y="0"/>
                </a:lnTo>
                <a:lnTo>
                  <a:pt x="2897780" y="2897780"/>
                </a:lnTo>
                <a:lnTo>
                  <a:pt x="0" y="28977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5691543">
            <a:off x="-309401" y="-914380"/>
            <a:ext cx="3886160" cy="3886160"/>
          </a:xfrm>
          <a:custGeom>
            <a:avLst/>
            <a:gdLst/>
            <a:ahLst/>
            <a:cxnLst/>
            <a:rect r="r" b="b" t="t" l="l"/>
            <a:pathLst>
              <a:path h="3886160" w="3886160">
                <a:moveTo>
                  <a:pt x="3886160" y="0"/>
                </a:moveTo>
                <a:lnTo>
                  <a:pt x="0" y="0"/>
                </a:lnTo>
                <a:lnTo>
                  <a:pt x="0" y="3886160"/>
                </a:lnTo>
                <a:lnTo>
                  <a:pt x="3886160" y="3886160"/>
                </a:lnTo>
                <a:lnTo>
                  <a:pt x="38861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5400000">
            <a:off x="-216853" y="5955347"/>
            <a:ext cx="4331653" cy="4331653"/>
          </a:xfrm>
          <a:custGeom>
            <a:avLst/>
            <a:gdLst/>
            <a:ahLst/>
            <a:cxnLst/>
            <a:rect r="r" b="b" t="t" l="l"/>
            <a:pathLst>
              <a:path h="4331653" w="4331653">
                <a:moveTo>
                  <a:pt x="0" y="0"/>
                </a:moveTo>
                <a:lnTo>
                  <a:pt x="4331653" y="0"/>
                </a:lnTo>
                <a:lnTo>
                  <a:pt x="4331653" y="4331653"/>
                </a:lnTo>
                <a:lnTo>
                  <a:pt x="0" y="433165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1028700" y="1028700"/>
            <a:ext cx="16230600" cy="8229600"/>
            <a:chOff x="0" y="0"/>
            <a:chExt cx="4274726" cy="2167467"/>
          </a:xfrm>
        </p:grpSpPr>
        <p:sp>
          <p:nvSpPr>
            <p:cNvPr name="Freeform 8" id="8"/>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alpha val="76863"/>
              </a:srgbClr>
            </a:solidFill>
          </p:spPr>
        </p:sp>
        <p:sp>
          <p:nvSpPr>
            <p:cNvPr name="TextBox 9" id="9"/>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2357385" y="2290420"/>
            <a:ext cx="960641" cy="406962"/>
          </a:xfrm>
          <a:custGeom>
            <a:avLst/>
            <a:gdLst/>
            <a:ahLst/>
            <a:cxnLst/>
            <a:rect r="r" b="b" t="t" l="l"/>
            <a:pathLst>
              <a:path h="406962" w="960641">
                <a:moveTo>
                  <a:pt x="0" y="0"/>
                </a:moveTo>
                <a:lnTo>
                  <a:pt x="960640" y="0"/>
                </a:lnTo>
                <a:lnTo>
                  <a:pt x="960640" y="406962"/>
                </a:lnTo>
                <a:lnTo>
                  <a:pt x="0" y="40696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true" flipV="false" rot="0">
            <a:off x="15571685" y="8921151"/>
            <a:ext cx="1678116" cy="674298"/>
          </a:xfrm>
          <a:custGeom>
            <a:avLst/>
            <a:gdLst/>
            <a:ahLst/>
            <a:cxnLst/>
            <a:rect r="r" b="b" t="t" l="l"/>
            <a:pathLst>
              <a:path h="674298" w="1678116">
                <a:moveTo>
                  <a:pt x="1678116" y="0"/>
                </a:moveTo>
                <a:lnTo>
                  <a:pt x="0" y="0"/>
                </a:lnTo>
                <a:lnTo>
                  <a:pt x="0" y="674298"/>
                </a:lnTo>
                <a:lnTo>
                  <a:pt x="1678116" y="674298"/>
                </a:lnTo>
                <a:lnTo>
                  <a:pt x="1678116"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2357385" y="3651885"/>
            <a:ext cx="7315200" cy="391449"/>
          </a:xfrm>
          <a:custGeom>
            <a:avLst/>
            <a:gdLst/>
            <a:ahLst/>
            <a:cxnLst/>
            <a:rect r="r" b="b" t="t" l="l"/>
            <a:pathLst>
              <a:path h="391449" w="7315200">
                <a:moveTo>
                  <a:pt x="0" y="0"/>
                </a:moveTo>
                <a:lnTo>
                  <a:pt x="7315200" y="0"/>
                </a:lnTo>
                <a:lnTo>
                  <a:pt x="7315200" y="391449"/>
                </a:lnTo>
                <a:lnTo>
                  <a:pt x="0" y="39144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3" id="13"/>
          <p:cNvGrpSpPr>
            <a:grpSpLocks noChangeAspect="true"/>
          </p:cNvGrpSpPr>
          <p:nvPr/>
        </p:nvGrpSpPr>
        <p:grpSpPr>
          <a:xfrm rot="0">
            <a:off x="7922922" y="1028700"/>
            <a:ext cx="9326879" cy="5246370"/>
            <a:chOff x="0" y="0"/>
            <a:chExt cx="6089457" cy="3425320"/>
          </a:xfrm>
        </p:grpSpPr>
        <p:sp>
          <p:nvSpPr>
            <p:cNvPr name="Freeform 14" id="14"/>
            <p:cNvSpPr/>
            <p:nvPr/>
          </p:nvSpPr>
          <p:spPr>
            <a:xfrm flipH="false" flipV="false" rot="0">
              <a:off x="0" y="0"/>
              <a:ext cx="6089457" cy="3425320"/>
            </a:xfrm>
            <a:custGeom>
              <a:avLst/>
              <a:gdLst/>
              <a:ahLst/>
              <a:cxnLst/>
              <a:rect r="r" b="b" t="t" l="l"/>
              <a:pathLst>
                <a:path h="3425320" w="6089457">
                  <a:moveTo>
                    <a:pt x="6089457" y="3425320"/>
                  </a:moveTo>
                  <a:lnTo>
                    <a:pt x="6089457" y="0"/>
                  </a:lnTo>
                  <a:lnTo>
                    <a:pt x="0" y="0"/>
                  </a:lnTo>
                  <a:cubicBezTo>
                    <a:pt x="2029819" y="1141773"/>
                    <a:pt x="4059638" y="2283546"/>
                    <a:pt x="6089457" y="3425320"/>
                  </a:cubicBezTo>
                  <a:close/>
                </a:path>
              </a:pathLst>
            </a:custGeom>
            <a:solidFill>
              <a:srgbClr val="539BE0"/>
            </a:solidFill>
          </p:spPr>
        </p:sp>
        <p:sp>
          <p:nvSpPr>
            <p:cNvPr name="Freeform 15" id="15"/>
            <p:cNvSpPr/>
            <p:nvPr/>
          </p:nvSpPr>
          <p:spPr>
            <a:xfrm flipH="false" flipV="false" rot="0">
              <a:off x="0" y="0"/>
              <a:ext cx="6089457" cy="3425320"/>
            </a:xfrm>
            <a:custGeom>
              <a:avLst/>
              <a:gdLst/>
              <a:ahLst/>
              <a:cxnLst/>
              <a:rect r="r" b="b" t="t" l="l"/>
              <a:pathLst>
                <a:path h="3425320" w="6089457">
                  <a:moveTo>
                    <a:pt x="6089457" y="3425320"/>
                  </a:moveTo>
                  <a:lnTo>
                    <a:pt x="6089457" y="0"/>
                  </a:lnTo>
                  <a:lnTo>
                    <a:pt x="0" y="0"/>
                  </a:lnTo>
                  <a:cubicBezTo>
                    <a:pt x="2029819" y="1141773"/>
                    <a:pt x="4059638" y="2283546"/>
                    <a:pt x="6089457" y="3425320"/>
                  </a:cubicBezTo>
                  <a:close/>
                </a:path>
              </a:pathLst>
            </a:custGeom>
            <a:blipFill>
              <a:blip r:embed="rId15"/>
              <a:stretch>
                <a:fillRect l="0" t="-37380" r="-15986" b="0"/>
              </a:stretch>
            </a:blipFill>
          </p:spPr>
        </p:sp>
      </p:grpSp>
      <p:sp>
        <p:nvSpPr>
          <p:cNvPr name="TextBox 16" id="16"/>
          <p:cNvSpPr txBox="true"/>
          <p:nvPr/>
        </p:nvSpPr>
        <p:spPr>
          <a:xfrm rot="0">
            <a:off x="2357385" y="2876704"/>
            <a:ext cx="7547174" cy="733239"/>
          </a:xfrm>
          <a:prstGeom prst="rect">
            <a:avLst/>
          </a:prstGeom>
        </p:spPr>
        <p:txBody>
          <a:bodyPr anchor="t" rtlCol="false" tIns="0" lIns="0" bIns="0" rIns="0">
            <a:spAutoFit/>
          </a:bodyPr>
          <a:lstStyle/>
          <a:p>
            <a:pPr algn="l">
              <a:lnSpc>
                <a:spcPts val="5543"/>
              </a:lnSpc>
            </a:pPr>
            <a:r>
              <a:rPr lang="en-US" sz="5181" b="true">
                <a:solidFill>
                  <a:srgbClr val="000000"/>
                </a:solidFill>
                <a:latin typeface="Bebas Neue Bold"/>
                <a:ea typeface="Bebas Neue Bold"/>
                <a:cs typeface="Bebas Neue Bold"/>
                <a:sym typeface="Bebas Neue Bold"/>
              </a:rPr>
              <a:t>M</a:t>
            </a:r>
            <a:r>
              <a:rPr lang="en-US" sz="5181" b="true">
                <a:solidFill>
                  <a:srgbClr val="000000"/>
                </a:solidFill>
                <a:latin typeface="Bebas Neue Bold"/>
                <a:ea typeface="Bebas Neue Bold"/>
                <a:cs typeface="Bebas Neue Bold"/>
                <a:sym typeface="Bebas Neue Bold"/>
              </a:rPr>
              <a:t>ethodology</a:t>
            </a:r>
          </a:p>
        </p:txBody>
      </p:sp>
      <p:sp>
        <p:nvSpPr>
          <p:cNvPr name="TextBox 17" id="17"/>
          <p:cNvSpPr txBox="true"/>
          <p:nvPr/>
        </p:nvSpPr>
        <p:spPr>
          <a:xfrm rot="0">
            <a:off x="2357385" y="4273562"/>
            <a:ext cx="8207018" cy="2559027"/>
          </a:xfrm>
          <a:prstGeom prst="rect">
            <a:avLst/>
          </a:prstGeom>
        </p:spPr>
        <p:txBody>
          <a:bodyPr anchor="t" rtlCol="false" tIns="0" lIns="0" bIns="0" rIns="0">
            <a:spAutoFit/>
          </a:bodyPr>
          <a:lstStyle/>
          <a:p>
            <a:pPr algn="l" marL="539996" indent="-269998" lvl="1">
              <a:lnSpc>
                <a:spcPts val="3401"/>
              </a:lnSpc>
              <a:buFont typeface="Arial"/>
              <a:buChar char="•"/>
            </a:pPr>
            <a:r>
              <a:rPr lang="en-US" sz="2501">
                <a:solidFill>
                  <a:srgbClr val="000000"/>
                </a:solidFill>
                <a:latin typeface="Barlow Condensed"/>
                <a:ea typeface="Barlow Condensed"/>
                <a:cs typeface="Barlow Condensed"/>
                <a:sym typeface="Barlow Condensed"/>
              </a:rPr>
              <a:t>Interpret scenario inputs and payment timing.</a:t>
            </a:r>
          </a:p>
          <a:p>
            <a:pPr algn="l" marL="539996" indent="-269998" lvl="1">
              <a:lnSpc>
                <a:spcPts val="3401"/>
              </a:lnSpc>
              <a:buFont typeface="Arial"/>
              <a:buChar char="•"/>
            </a:pPr>
            <a:r>
              <a:rPr lang="en-US" sz="2501">
                <a:solidFill>
                  <a:srgbClr val="000000"/>
                </a:solidFill>
                <a:latin typeface="Barlow Condensed"/>
                <a:ea typeface="Barlow Condensed"/>
                <a:cs typeface="Barlow Condensed"/>
                <a:sym typeface="Barlow Condensed"/>
              </a:rPr>
              <a:t>Apply the specified Excel functions using explicit cash-flow sign conventions.</a:t>
            </a:r>
          </a:p>
          <a:p>
            <a:pPr algn="l" marL="539996" indent="-269998" lvl="1">
              <a:lnSpc>
                <a:spcPts val="3401"/>
              </a:lnSpc>
              <a:buFont typeface="Arial"/>
              <a:buChar char="•"/>
            </a:pPr>
            <a:r>
              <a:rPr lang="en-US" sz="2501">
                <a:solidFill>
                  <a:srgbClr val="000000"/>
                </a:solidFill>
                <a:latin typeface="Barlow Condensed"/>
                <a:ea typeface="Barlow Condensed"/>
                <a:cs typeface="Barlow Condensed"/>
                <a:sym typeface="Barlow Condensed"/>
              </a:rPr>
              <a:t>Validate key outputs independently and reconcile the loan schedule.</a:t>
            </a:r>
          </a:p>
          <a:p>
            <a:pPr algn="l" marL="539996" indent="-269998" lvl="1">
              <a:lnSpc>
                <a:spcPts val="3401"/>
              </a:lnSpc>
              <a:buFont typeface="Arial"/>
              <a:buChar char="•"/>
            </a:pPr>
            <a:r>
              <a:rPr lang="en-US" sz="2501">
                <a:solidFill>
                  <a:srgbClr val="000000"/>
                </a:solidFill>
                <a:latin typeface="Barlow Condensed"/>
                <a:ea typeface="Barlow Condensed"/>
                <a:cs typeface="Barlow Condensed"/>
                <a:sym typeface="Barlow Condensed"/>
              </a:rPr>
              <a:t>Use chronological dates for irregular cash flows and sensitivity checks for IRR.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false" flipV="false" rot="7274840">
            <a:off x="14679307" y="1014075"/>
            <a:ext cx="5446613" cy="3018882"/>
          </a:xfrm>
          <a:custGeom>
            <a:avLst/>
            <a:gdLst/>
            <a:ahLst/>
            <a:cxnLst/>
            <a:rect r="r" b="b" t="t" l="l"/>
            <a:pathLst>
              <a:path h="3018882" w="5446613">
                <a:moveTo>
                  <a:pt x="0" y="0"/>
                </a:moveTo>
                <a:lnTo>
                  <a:pt x="5446614" y="0"/>
                </a:lnTo>
                <a:lnTo>
                  <a:pt x="5446614" y="3018881"/>
                </a:lnTo>
                <a:lnTo>
                  <a:pt x="0" y="30188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225471">
            <a:off x="3345890" y="-420190"/>
            <a:ext cx="2897781" cy="2897781"/>
          </a:xfrm>
          <a:custGeom>
            <a:avLst/>
            <a:gdLst/>
            <a:ahLst/>
            <a:cxnLst/>
            <a:rect r="r" b="b" t="t" l="l"/>
            <a:pathLst>
              <a:path h="2897781" w="2897781">
                <a:moveTo>
                  <a:pt x="0" y="0"/>
                </a:moveTo>
                <a:lnTo>
                  <a:pt x="2897780" y="0"/>
                </a:lnTo>
                <a:lnTo>
                  <a:pt x="2897780" y="2897780"/>
                </a:lnTo>
                <a:lnTo>
                  <a:pt x="0" y="28977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5691543">
            <a:off x="-309401" y="-914380"/>
            <a:ext cx="3886160" cy="3886160"/>
          </a:xfrm>
          <a:custGeom>
            <a:avLst/>
            <a:gdLst/>
            <a:ahLst/>
            <a:cxnLst/>
            <a:rect r="r" b="b" t="t" l="l"/>
            <a:pathLst>
              <a:path h="3886160" w="3886160">
                <a:moveTo>
                  <a:pt x="3886160" y="0"/>
                </a:moveTo>
                <a:lnTo>
                  <a:pt x="0" y="0"/>
                </a:lnTo>
                <a:lnTo>
                  <a:pt x="0" y="3886160"/>
                </a:lnTo>
                <a:lnTo>
                  <a:pt x="3886160" y="3886160"/>
                </a:lnTo>
                <a:lnTo>
                  <a:pt x="38861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1028700" y="1028700"/>
            <a:ext cx="16230600" cy="8229600"/>
            <a:chOff x="0" y="0"/>
            <a:chExt cx="4274726" cy="2167467"/>
          </a:xfrm>
        </p:grpSpPr>
        <p:sp>
          <p:nvSpPr>
            <p:cNvPr name="Freeform 7" id="7"/>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alpha val="76863"/>
              </a:srgbClr>
            </a:solidFill>
          </p:spPr>
        </p:sp>
        <p:sp>
          <p:nvSpPr>
            <p:cNvPr name="TextBox 8" id="8"/>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633679" y="1402030"/>
            <a:ext cx="960641" cy="406962"/>
          </a:xfrm>
          <a:custGeom>
            <a:avLst/>
            <a:gdLst/>
            <a:ahLst/>
            <a:cxnLst/>
            <a:rect r="r" b="b" t="t" l="l"/>
            <a:pathLst>
              <a:path h="406962" w="960641">
                <a:moveTo>
                  <a:pt x="0" y="0"/>
                </a:moveTo>
                <a:lnTo>
                  <a:pt x="960641" y="0"/>
                </a:lnTo>
                <a:lnTo>
                  <a:pt x="960641" y="406963"/>
                </a:lnTo>
                <a:lnTo>
                  <a:pt x="0" y="40696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5400000">
            <a:off x="-216853" y="5955347"/>
            <a:ext cx="4331653" cy="4331653"/>
          </a:xfrm>
          <a:custGeom>
            <a:avLst/>
            <a:gdLst/>
            <a:ahLst/>
            <a:cxnLst/>
            <a:rect r="r" b="b" t="t" l="l"/>
            <a:pathLst>
              <a:path h="4331653" w="4331653">
                <a:moveTo>
                  <a:pt x="0" y="0"/>
                </a:moveTo>
                <a:lnTo>
                  <a:pt x="4331653" y="0"/>
                </a:lnTo>
                <a:lnTo>
                  <a:pt x="4331653" y="4331653"/>
                </a:lnTo>
                <a:lnTo>
                  <a:pt x="0" y="433165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true" flipV="false" rot="0">
            <a:off x="15571685" y="8921151"/>
            <a:ext cx="1678116" cy="674298"/>
          </a:xfrm>
          <a:custGeom>
            <a:avLst/>
            <a:gdLst/>
            <a:ahLst/>
            <a:cxnLst/>
            <a:rect r="r" b="b" t="t" l="l"/>
            <a:pathLst>
              <a:path h="674298" w="1678116">
                <a:moveTo>
                  <a:pt x="1678116" y="0"/>
                </a:moveTo>
                <a:lnTo>
                  <a:pt x="0" y="0"/>
                </a:lnTo>
                <a:lnTo>
                  <a:pt x="0" y="674298"/>
                </a:lnTo>
                <a:lnTo>
                  <a:pt x="1678116" y="674298"/>
                </a:lnTo>
                <a:lnTo>
                  <a:pt x="1678116"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1633679" y="2523516"/>
            <a:ext cx="7315200" cy="391449"/>
          </a:xfrm>
          <a:custGeom>
            <a:avLst/>
            <a:gdLst/>
            <a:ahLst/>
            <a:cxnLst/>
            <a:rect r="r" b="b" t="t" l="l"/>
            <a:pathLst>
              <a:path h="391449" w="7315200">
                <a:moveTo>
                  <a:pt x="0" y="0"/>
                </a:moveTo>
                <a:lnTo>
                  <a:pt x="7315200" y="0"/>
                </a:lnTo>
                <a:lnTo>
                  <a:pt x="7315200" y="391448"/>
                </a:lnTo>
                <a:lnTo>
                  <a:pt x="0" y="39144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3" id="13"/>
          <p:cNvGrpSpPr>
            <a:grpSpLocks noChangeAspect="true"/>
          </p:cNvGrpSpPr>
          <p:nvPr/>
        </p:nvGrpSpPr>
        <p:grpSpPr>
          <a:xfrm rot="0">
            <a:off x="1028700" y="4011930"/>
            <a:ext cx="9326879" cy="5246370"/>
            <a:chOff x="0" y="0"/>
            <a:chExt cx="6089457" cy="3425320"/>
          </a:xfrm>
        </p:grpSpPr>
        <p:sp>
          <p:nvSpPr>
            <p:cNvPr name="Freeform 14" id="14"/>
            <p:cNvSpPr/>
            <p:nvPr/>
          </p:nvSpPr>
          <p:spPr>
            <a:xfrm flipH="false" flipV="false" rot="0">
              <a:off x="0" y="0"/>
              <a:ext cx="6089457" cy="3425320"/>
            </a:xfrm>
            <a:custGeom>
              <a:avLst/>
              <a:gdLst/>
              <a:ahLst/>
              <a:cxnLst/>
              <a:rect r="r" b="b" t="t" l="l"/>
              <a:pathLst>
                <a:path h="3425320" w="6089457">
                  <a:moveTo>
                    <a:pt x="0" y="0"/>
                  </a:moveTo>
                  <a:lnTo>
                    <a:pt x="0" y="3425320"/>
                  </a:lnTo>
                  <a:lnTo>
                    <a:pt x="6089457" y="3425320"/>
                  </a:lnTo>
                  <a:cubicBezTo>
                    <a:pt x="4059638" y="2283546"/>
                    <a:pt x="2029819" y="1141773"/>
                    <a:pt x="0" y="0"/>
                  </a:cubicBezTo>
                  <a:close/>
                </a:path>
              </a:pathLst>
            </a:custGeom>
            <a:solidFill>
              <a:srgbClr val="D94D4D"/>
            </a:solidFill>
          </p:spPr>
        </p:sp>
        <p:sp>
          <p:nvSpPr>
            <p:cNvPr name="Freeform 15" id="15"/>
            <p:cNvSpPr/>
            <p:nvPr/>
          </p:nvSpPr>
          <p:spPr>
            <a:xfrm flipH="false" flipV="false" rot="0">
              <a:off x="0" y="0"/>
              <a:ext cx="6089457" cy="3425320"/>
            </a:xfrm>
            <a:custGeom>
              <a:avLst/>
              <a:gdLst/>
              <a:ahLst/>
              <a:cxnLst/>
              <a:rect r="r" b="b" t="t" l="l"/>
              <a:pathLst>
                <a:path h="3425320" w="6089457">
                  <a:moveTo>
                    <a:pt x="0" y="0"/>
                  </a:moveTo>
                  <a:lnTo>
                    <a:pt x="0" y="3425320"/>
                  </a:lnTo>
                  <a:lnTo>
                    <a:pt x="6089457" y="3425320"/>
                  </a:lnTo>
                  <a:cubicBezTo>
                    <a:pt x="4059638" y="2283546"/>
                    <a:pt x="2029819" y="1141773"/>
                    <a:pt x="0" y="0"/>
                  </a:cubicBezTo>
                  <a:close/>
                </a:path>
              </a:pathLst>
            </a:custGeom>
            <a:blipFill>
              <a:blip r:embed="rId15"/>
              <a:stretch>
                <a:fillRect l="0" t="-9111" r="0" b="-9111"/>
              </a:stretch>
            </a:blipFill>
          </p:spPr>
        </p:sp>
      </p:grpSp>
      <p:sp>
        <p:nvSpPr>
          <p:cNvPr name="TextBox 16" id="16"/>
          <p:cNvSpPr txBox="true"/>
          <p:nvPr/>
        </p:nvSpPr>
        <p:spPr>
          <a:xfrm rot="0">
            <a:off x="1633679" y="1986001"/>
            <a:ext cx="8776698" cy="733239"/>
          </a:xfrm>
          <a:prstGeom prst="rect">
            <a:avLst/>
          </a:prstGeom>
        </p:spPr>
        <p:txBody>
          <a:bodyPr anchor="t" rtlCol="false" tIns="0" lIns="0" bIns="0" rIns="0">
            <a:spAutoFit/>
          </a:bodyPr>
          <a:lstStyle/>
          <a:p>
            <a:pPr algn="l">
              <a:lnSpc>
                <a:spcPts val="5543"/>
              </a:lnSpc>
            </a:pPr>
            <a:r>
              <a:rPr lang="en-US" sz="5181" b="true">
                <a:solidFill>
                  <a:srgbClr val="000000"/>
                </a:solidFill>
                <a:latin typeface="Bebas Neue Bold"/>
                <a:ea typeface="Bebas Neue Bold"/>
                <a:cs typeface="Bebas Neue Bold"/>
                <a:sym typeface="Bebas Neue Bold"/>
              </a:rPr>
              <a:t>Findings</a:t>
            </a:r>
          </a:p>
        </p:txBody>
      </p:sp>
      <p:sp>
        <p:nvSpPr>
          <p:cNvPr name="TextBox 17" id="17"/>
          <p:cNvSpPr txBox="true"/>
          <p:nvPr/>
        </p:nvSpPr>
        <p:spPr>
          <a:xfrm rot="0">
            <a:off x="2851747" y="2927679"/>
            <a:ext cx="10335347" cy="2130402"/>
          </a:xfrm>
          <a:prstGeom prst="rect">
            <a:avLst/>
          </a:prstGeom>
        </p:spPr>
        <p:txBody>
          <a:bodyPr anchor="t" rtlCol="false" tIns="0" lIns="0" bIns="0" rIns="0">
            <a:spAutoFit/>
          </a:bodyPr>
          <a:lstStyle/>
          <a:p>
            <a:pPr algn="l">
              <a:lnSpc>
                <a:spcPts val="3401"/>
              </a:lnSpc>
            </a:pPr>
            <a:r>
              <a:rPr lang="en-US" sz="2501" b="true">
                <a:solidFill>
                  <a:srgbClr val="000000"/>
                </a:solidFill>
                <a:latin typeface="Barlow Condensed Bold"/>
                <a:ea typeface="Barlow Condensed Bold"/>
                <a:cs typeface="Barlow Condensed Bold"/>
                <a:sym typeface="Barlow Condensed Bold"/>
              </a:rPr>
              <a:t>Annuity &amp; Present Value</a:t>
            </a:r>
          </a:p>
          <a:p>
            <a:pPr algn="l">
              <a:lnSpc>
                <a:spcPts val="3401"/>
              </a:lnSpc>
            </a:pPr>
            <a:r>
              <a:rPr lang="en-US" sz="2501">
                <a:solidFill>
                  <a:srgbClr val="000000"/>
                </a:solidFill>
                <a:latin typeface="Barlow Condensed"/>
                <a:ea typeface="Barlow Condensed"/>
                <a:cs typeface="Barlow Condensed"/>
                <a:sym typeface="Barlow Condensed"/>
              </a:rPr>
              <a:t>Cash price ₹32,000; rate 13%; 8 annual payments of ₹6,000.</a:t>
            </a:r>
          </a:p>
          <a:p>
            <a:pPr algn="l">
              <a:lnSpc>
                <a:spcPts val="3401"/>
              </a:lnSpc>
            </a:pPr>
            <a:r>
              <a:rPr lang="en-US" sz="2501">
                <a:solidFill>
                  <a:srgbClr val="000000"/>
                </a:solidFill>
                <a:latin typeface="Barlow Condensed"/>
                <a:ea typeface="Barlow Condensed"/>
                <a:cs typeface="Barlow Condensed"/>
                <a:sym typeface="Barlow Condensed"/>
              </a:rPr>
              <a:t>PV — end of year: ₹ 28,793</a:t>
            </a:r>
          </a:p>
          <a:p>
            <a:pPr algn="l">
              <a:lnSpc>
                <a:spcPts val="3401"/>
              </a:lnSpc>
            </a:pPr>
            <a:r>
              <a:rPr lang="en-US" sz="2501">
                <a:solidFill>
                  <a:srgbClr val="000000"/>
                </a:solidFill>
                <a:latin typeface="Barlow Condensed"/>
                <a:ea typeface="Barlow Condensed"/>
                <a:cs typeface="Barlow Condensed"/>
                <a:sym typeface="Barlow Condensed"/>
              </a:rPr>
              <a:t>PV — beginning of year: ₹32,535</a:t>
            </a:r>
          </a:p>
          <a:p>
            <a:pPr algn="l">
              <a:lnSpc>
                <a:spcPts val="3401"/>
              </a:lnSpc>
            </a:pPr>
            <a:r>
              <a:rPr lang="en-US" sz="2501">
                <a:solidFill>
                  <a:srgbClr val="000000"/>
                </a:solidFill>
                <a:latin typeface="Barlow Condensed"/>
                <a:ea typeface="Barlow Condensed"/>
                <a:cs typeface="Barlow Condensed"/>
                <a:sym typeface="Barlow Condensed"/>
              </a:rPr>
              <a:t>Earlier payments have higher present value because they are discounted for fewer periods.</a:t>
            </a:r>
          </a:p>
        </p:txBody>
      </p:sp>
      <p:sp>
        <p:nvSpPr>
          <p:cNvPr name="TextBox 18" id="18"/>
          <p:cNvSpPr txBox="true"/>
          <p:nvPr/>
        </p:nvSpPr>
        <p:spPr>
          <a:xfrm rot="0">
            <a:off x="6022028" y="5105400"/>
            <a:ext cx="9648915" cy="1701777"/>
          </a:xfrm>
          <a:prstGeom prst="rect">
            <a:avLst/>
          </a:prstGeom>
        </p:spPr>
        <p:txBody>
          <a:bodyPr anchor="t" rtlCol="false" tIns="0" lIns="0" bIns="0" rIns="0">
            <a:spAutoFit/>
          </a:bodyPr>
          <a:lstStyle/>
          <a:p>
            <a:pPr algn="l">
              <a:lnSpc>
                <a:spcPts val="3401"/>
              </a:lnSpc>
            </a:pPr>
            <a:r>
              <a:rPr lang="en-US" sz="2501" b="true">
                <a:solidFill>
                  <a:srgbClr val="000000"/>
                </a:solidFill>
                <a:latin typeface="Barlow Condensed Bold"/>
                <a:ea typeface="Barlow Condensed Bold"/>
                <a:cs typeface="Barlow Condensed Bold"/>
                <a:sym typeface="Barlow Condensed Bold"/>
              </a:rPr>
              <a:t>Loan &amp; EMI Analysis</a:t>
            </a:r>
          </a:p>
          <a:p>
            <a:pPr algn="l">
              <a:lnSpc>
                <a:spcPts val="3401"/>
              </a:lnSpc>
            </a:pPr>
            <a:r>
              <a:rPr lang="en-US" sz="2501">
                <a:solidFill>
                  <a:srgbClr val="000000"/>
                </a:solidFill>
                <a:latin typeface="Barlow Condensed"/>
                <a:ea typeface="Barlow Condensed"/>
                <a:cs typeface="Barlow Condensed"/>
                <a:sym typeface="Barlow Condensed"/>
              </a:rPr>
              <a:t>25-year ₹50 lakh loan at 12%: EMI ≈ ₹52,139.81.</a:t>
            </a:r>
          </a:p>
          <a:p>
            <a:pPr algn="l">
              <a:lnSpc>
                <a:spcPts val="3401"/>
              </a:lnSpc>
            </a:pPr>
            <a:r>
              <a:rPr lang="en-US" sz="2501">
                <a:solidFill>
                  <a:srgbClr val="000000"/>
                </a:solidFill>
                <a:latin typeface="Barlow Condensed"/>
                <a:ea typeface="Barlow Condensed"/>
                <a:cs typeface="Barlow Condensed"/>
                <a:sym typeface="Barlow Condensed"/>
              </a:rPr>
              <a:t>8-month ₹1 lakh loan at 1.3% monthly: EMI ≈ ₹13,242.27.</a:t>
            </a:r>
          </a:p>
          <a:p>
            <a:pPr algn="l">
              <a:lnSpc>
                <a:spcPts val="3401"/>
              </a:lnSpc>
            </a:pPr>
            <a:r>
              <a:rPr lang="en-US" sz="2501">
                <a:solidFill>
                  <a:srgbClr val="000000"/>
                </a:solidFill>
                <a:latin typeface="Barlow Condensed"/>
                <a:ea typeface="Barlow Condensed"/>
                <a:cs typeface="Barlow Condensed"/>
                <a:sym typeface="Barlow Condensed"/>
              </a:rPr>
              <a:t>Interest declines and principal repayment rises as the outstanding balance falls.</a:t>
            </a:r>
          </a:p>
        </p:txBody>
      </p:sp>
      <p:sp>
        <p:nvSpPr>
          <p:cNvPr name="TextBox 19" id="19"/>
          <p:cNvSpPr txBox="true"/>
          <p:nvPr/>
        </p:nvSpPr>
        <p:spPr>
          <a:xfrm rot="0">
            <a:off x="8178970" y="6994226"/>
            <a:ext cx="9648915" cy="1701777"/>
          </a:xfrm>
          <a:prstGeom prst="rect">
            <a:avLst/>
          </a:prstGeom>
        </p:spPr>
        <p:txBody>
          <a:bodyPr anchor="t" rtlCol="false" tIns="0" lIns="0" bIns="0" rIns="0">
            <a:spAutoFit/>
          </a:bodyPr>
          <a:lstStyle/>
          <a:p>
            <a:pPr algn="l">
              <a:lnSpc>
                <a:spcPts val="3401"/>
              </a:lnSpc>
            </a:pPr>
            <a:r>
              <a:rPr lang="en-US" sz="2501" b="true">
                <a:solidFill>
                  <a:srgbClr val="000000"/>
                </a:solidFill>
                <a:latin typeface="Barlow Condensed Bold"/>
                <a:ea typeface="Barlow Condensed Bold"/>
                <a:cs typeface="Barlow Condensed Bold"/>
                <a:sym typeface="Barlow Condensed Bold"/>
              </a:rPr>
              <a:t>RATE &amp; NPER</a:t>
            </a:r>
          </a:p>
          <a:p>
            <a:pPr algn="l">
              <a:lnSpc>
                <a:spcPts val="3401"/>
              </a:lnSpc>
            </a:pPr>
            <a:r>
              <a:rPr lang="en-US" sz="2501">
                <a:solidFill>
                  <a:srgbClr val="000000"/>
                </a:solidFill>
                <a:latin typeface="Barlow Condensed"/>
                <a:ea typeface="Barlow Condensed"/>
                <a:cs typeface="Barlow Condensed"/>
                <a:sym typeface="Barlow Condensed"/>
              </a:rPr>
              <a:t>RATE case: ₹1,00,000 loan, 15 payments of ₹12,000 → monthly rate ≈ 8.44%.</a:t>
            </a:r>
          </a:p>
          <a:p>
            <a:pPr algn="l">
              <a:lnSpc>
                <a:spcPts val="3401"/>
              </a:lnSpc>
            </a:pPr>
            <a:r>
              <a:rPr lang="en-US" sz="2501">
                <a:solidFill>
                  <a:srgbClr val="000000"/>
                </a:solidFill>
                <a:latin typeface="Barlow Condensed"/>
                <a:ea typeface="Barlow Condensed"/>
                <a:cs typeface="Barlow Condensed"/>
                <a:sym typeface="Barlow Condensed"/>
              </a:rPr>
              <a:t>NPER case: ₹1,00,000 loan, 10% p.a., ₹15,000 payment → ≈ 11.53 months.</a:t>
            </a:r>
          </a:p>
          <a:p>
            <a:pPr algn="l">
              <a:lnSpc>
                <a:spcPts val="3401"/>
              </a:lnSpc>
            </a:pPr>
            <a:r>
              <a:rPr lang="en-US" sz="2501">
                <a:solidFill>
                  <a:srgbClr val="000000"/>
                </a:solidFill>
                <a:latin typeface="Barlow Condensed"/>
                <a:ea typeface="Barlow Condensed"/>
                <a:cs typeface="Barlow Condensed"/>
                <a:sym typeface="Barlow Condensed"/>
              </a:rPr>
              <a:t>These functions infer rate or repayment duration from known loan terms.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false" flipV="false" rot="7274840">
            <a:off x="14679307" y="1014075"/>
            <a:ext cx="5446613" cy="3018882"/>
          </a:xfrm>
          <a:custGeom>
            <a:avLst/>
            <a:gdLst/>
            <a:ahLst/>
            <a:cxnLst/>
            <a:rect r="r" b="b" t="t" l="l"/>
            <a:pathLst>
              <a:path h="3018882" w="5446613">
                <a:moveTo>
                  <a:pt x="0" y="0"/>
                </a:moveTo>
                <a:lnTo>
                  <a:pt x="5446614" y="0"/>
                </a:lnTo>
                <a:lnTo>
                  <a:pt x="5446614" y="3018881"/>
                </a:lnTo>
                <a:lnTo>
                  <a:pt x="0" y="30188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225471">
            <a:off x="3345890" y="-420190"/>
            <a:ext cx="2897781" cy="2897781"/>
          </a:xfrm>
          <a:custGeom>
            <a:avLst/>
            <a:gdLst/>
            <a:ahLst/>
            <a:cxnLst/>
            <a:rect r="r" b="b" t="t" l="l"/>
            <a:pathLst>
              <a:path h="2897781" w="2897781">
                <a:moveTo>
                  <a:pt x="0" y="0"/>
                </a:moveTo>
                <a:lnTo>
                  <a:pt x="2897780" y="0"/>
                </a:lnTo>
                <a:lnTo>
                  <a:pt x="2897780" y="2897780"/>
                </a:lnTo>
                <a:lnTo>
                  <a:pt x="0" y="28977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5691543">
            <a:off x="-309401" y="-914380"/>
            <a:ext cx="3886160" cy="3886160"/>
          </a:xfrm>
          <a:custGeom>
            <a:avLst/>
            <a:gdLst/>
            <a:ahLst/>
            <a:cxnLst/>
            <a:rect r="r" b="b" t="t" l="l"/>
            <a:pathLst>
              <a:path h="3886160" w="3886160">
                <a:moveTo>
                  <a:pt x="3886160" y="0"/>
                </a:moveTo>
                <a:lnTo>
                  <a:pt x="0" y="0"/>
                </a:lnTo>
                <a:lnTo>
                  <a:pt x="0" y="3886160"/>
                </a:lnTo>
                <a:lnTo>
                  <a:pt x="3886160" y="3886160"/>
                </a:lnTo>
                <a:lnTo>
                  <a:pt x="38861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5400000">
            <a:off x="-216853" y="5955347"/>
            <a:ext cx="4331653" cy="4331653"/>
          </a:xfrm>
          <a:custGeom>
            <a:avLst/>
            <a:gdLst/>
            <a:ahLst/>
            <a:cxnLst/>
            <a:rect r="r" b="b" t="t" l="l"/>
            <a:pathLst>
              <a:path h="4331653" w="4331653">
                <a:moveTo>
                  <a:pt x="0" y="0"/>
                </a:moveTo>
                <a:lnTo>
                  <a:pt x="4331653" y="0"/>
                </a:lnTo>
                <a:lnTo>
                  <a:pt x="4331653" y="4331653"/>
                </a:lnTo>
                <a:lnTo>
                  <a:pt x="0" y="433165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1028700" y="1028700"/>
            <a:ext cx="16230600" cy="8229600"/>
            <a:chOff x="0" y="0"/>
            <a:chExt cx="4274726" cy="2167467"/>
          </a:xfrm>
        </p:grpSpPr>
        <p:sp>
          <p:nvSpPr>
            <p:cNvPr name="Freeform 8" id="8"/>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alpha val="76863"/>
              </a:srgbClr>
            </a:solidFill>
          </p:spPr>
        </p:sp>
        <p:sp>
          <p:nvSpPr>
            <p:cNvPr name="TextBox 9" id="9"/>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10" id="10"/>
          <p:cNvGrpSpPr>
            <a:grpSpLocks noChangeAspect="true"/>
          </p:cNvGrpSpPr>
          <p:nvPr/>
        </p:nvGrpSpPr>
        <p:grpSpPr>
          <a:xfrm rot="0">
            <a:off x="7932421" y="4011930"/>
            <a:ext cx="9326879" cy="5246370"/>
            <a:chOff x="0" y="0"/>
            <a:chExt cx="6089457" cy="3425320"/>
          </a:xfrm>
        </p:grpSpPr>
        <p:sp>
          <p:nvSpPr>
            <p:cNvPr name="Freeform 11" id="11"/>
            <p:cNvSpPr/>
            <p:nvPr/>
          </p:nvSpPr>
          <p:spPr>
            <a:xfrm flipH="false" flipV="false" rot="0">
              <a:off x="0" y="0"/>
              <a:ext cx="6089457" cy="3425320"/>
            </a:xfrm>
            <a:custGeom>
              <a:avLst/>
              <a:gdLst/>
              <a:ahLst/>
              <a:cxnLst/>
              <a:rect r="r" b="b" t="t" l="l"/>
              <a:pathLst>
                <a:path h="3425320" w="6089457">
                  <a:moveTo>
                    <a:pt x="6089457" y="0"/>
                  </a:moveTo>
                  <a:lnTo>
                    <a:pt x="6089457" y="3425320"/>
                  </a:lnTo>
                  <a:lnTo>
                    <a:pt x="0" y="3425320"/>
                  </a:lnTo>
                  <a:cubicBezTo>
                    <a:pt x="2029819" y="2283546"/>
                    <a:pt x="4059638" y="1141773"/>
                    <a:pt x="6089457" y="0"/>
                  </a:cubicBezTo>
                  <a:close/>
                </a:path>
              </a:pathLst>
            </a:custGeom>
            <a:solidFill>
              <a:srgbClr val="377D3F"/>
            </a:solidFill>
          </p:spPr>
        </p:sp>
        <p:sp>
          <p:nvSpPr>
            <p:cNvPr name="Freeform 12" id="12"/>
            <p:cNvSpPr/>
            <p:nvPr/>
          </p:nvSpPr>
          <p:spPr>
            <a:xfrm flipH="false" flipV="false" rot="0">
              <a:off x="0" y="0"/>
              <a:ext cx="6089457" cy="3425320"/>
            </a:xfrm>
            <a:custGeom>
              <a:avLst/>
              <a:gdLst/>
              <a:ahLst/>
              <a:cxnLst/>
              <a:rect r="r" b="b" t="t" l="l"/>
              <a:pathLst>
                <a:path h="3425320" w="6089457">
                  <a:moveTo>
                    <a:pt x="6089457" y="0"/>
                  </a:moveTo>
                  <a:lnTo>
                    <a:pt x="6089457" y="3425320"/>
                  </a:lnTo>
                  <a:lnTo>
                    <a:pt x="0" y="3425320"/>
                  </a:lnTo>
                  <a:cubicBezTo>
                    <a:pt x="2029819" y="2283546"/>
                    <a:pt x="4059638" y="1141773"/>
                    <a:pt x="6089457" y="0"/>
                  </a:cubicBezTo>
                  <a:close/>
                </a:path>
              </a:pathLst>
            </a:custGeom>
            <a:blipFill>
              <a:blip r:embed="rId9"/>
              <a:stretch>
                <a:fillRect l="0" t="-8555" r="0" b="-8555"/>
              </a:stretch>
            </a:blipFill>
          </p:spPr>
        </p:sp>
      </p:grpSp>
      <p:sp>
        <p:nvSpPr>
          <p:cNvPr name="Freeform 13" id="13"/>
          <p:cNvSpPr/>
          <p:nvPr/>
        </p:nvSpPr>
        <p:spPr>
          <a:xfrm flipH="true" flipV="false" rot="0">
            <a:off x="15571685" y="8921151"/>
            <a:ext cx="1678116" cy="674298"/>
          </a:xfrm>
          <a:custGeom>
            <a:avLst/>
            <a:gdLst/>
            <a:ahLst/>
            <a:cxnLst/>
            <a:rect r="r" b="b" t="t" l="l"/>
            <a:pathLst>
              <a:path h="674298" w="1678116">
                <a:moveTo>
                  <a:pt x="1678116" y="0"/>
                </a:moveTo>
                <a:lnTo>
                  <a:pt x="0" y="0"/>
                </a:lnTo>
                <a:lnTo>
                  <a:pt x="0" y="674298"/>
                </a:lnTo>
                <a:lnTo>
                  <a:pt x="1678116" y="674298"/>
                </a:lnTo>
                <a:lnTo>
                  <a:pt x="1678116"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4" id="14"/>
          <p:cNvSpPr txBox="true"/>
          <p:nvPr/>
        </p:nvSpPr>
        <p:spPr>
          <a:xfrm rot="0">
            <a:off x="1410937" y="1270872"/>
            <a:ext cx="8115844" cy="2559027"/>
          </a:xfrm>
          <a:prstGeom prst="rect">
            <a:avLst/>
          </a:prstGeom>
        </p:spPr>
        <p:txBody>
          <a:bodyPr anchor="t" rtlCol="false" tIns="0" lIns="0" bIns="0" rIns="0">
            <a:spAutoFit/>
          </a:bodyPr>
          <a:lstStyle/>
          <a:p>
            <a:pPr algn="l">
              <a:lnSpc>
                <a:spcPts val="3401"/>
              </a:lnSpc>
            </a:pPr>
            <a:r>
              <a:rPr lang="en-US" sz="2501" b="true">
                <a:solidFill>
                  <a:srgbClr val="000000"/>
                </a:solidFill>
                <a:latin typeface="Barlow Condensed Bold"/>
                <a:ea typeface="Barlow Condensed Bold"/>
                <a:cs typeface="Barlow Condensed Bold"/>
                <a:sym typeface="Barlow Condensed Bold"/>
              </a:rPr>
              <a:t>Investment Decision — NPV</a:t>
            </a:r>
          </a:p>
          <a:p>
            <a:pPr algn="l">
              <a:lnSpc>
                <a:spcPts val="3401"/>
              </a:lnSpc>
            </a:pPr>
            <a:r>
              <a:rPr lang="en-US" sz="2501">
                <a:solidFill>
                  <a:srgbClr val="000000"/>
                </a:solidFill>
                <a:latin typeface="Barlow Condensed"/>
                <a:ea typeface="Barlow Condensed"/>
                <a:cs typeface="Barlow Condensed"/>
                <a:sym typeface="Barlow Condensed"/>
              </a:rPr>
              <a:t>Investment 1 NPV @ 20%: ₹5,972.22.</a:t>
            </a:r>
          </a:p>
          <a:p>
            <a:pPr algn="l">
              <a:lnSpc>
                <a:spcPts val="3401"/>
              </a:lnSpc>
            </a:pPr>
            <a:r>
              <a:rPr lang="en-US" sz="2501">
                <a:solidFill>
                  <a:srgbClr val="000000"/>
                </a:solidFill>
                <a:latin typeface="Barlow Condensed"/>
                <a:ea typeface="Barlow Condensed"/>
                <a:cs typeface="Barlow Condensed"/>
                <a:sym typeface="Barlow Condensed"/>
              </a:rPr>
              <a:t>Investment 2 NPV @ 20%: ₹6,111.11.</a:t>
            </a:r>
          </a:p>
          <a:p>
            <a:pPr algn="l">
              <a:lnSpc>
                <a:spcPts val="3401"/>
              </a:lnSpc>
            </a:pPr>
            <a:r>
              <a:rPr lang="en-US" sz="2501">
                <a:solidFill>
                  <a:srgbClr val="000000"/>
                </a:solidFill>
                <a:latin typeface="Barlow Condensed"/>
                <a:ea typeface="Barlow Condensed"/>
                <a:cs typeface="Barlow Condensed"/>
                <a:sym typeface="Barlow Condensed"/>
              </a:rPr>
              <a:t>Investment 2 is preferred because it creates the higher discounted value.</a:t>
            </a:r>
          </a:p>
          <a:p>
            <a:pPr algn="l">
              <a:lnSpc>
                <a:spcPts val="3401"/>
              </a:lnSpc>
            </a:pPr>
            <a:r>
              <a:rPr lang="en-US" sz="2501">
                <a:solidFill>
                  <a:srgbClr val="000000"/>
                </a:solidFill>
                <a:latin typeface="Barlow Condensed"/>
                <a:ea typeface="Barlow Condensed"/>
                <a:cs typeface="Barlow Condensed"/>
                <a:sym typeface="Barlow Condensed"/>
              </a:rPr>
              <a:t>NPV is particularly useful when scale or timing differs across mutually exclusive projects.</a:t>
            </a:r>
          </a:p>
        </p:txBody>
      </p:sp>
      <p:sp>
        <p:nvSpPr>
          <p:cNvPr name="TextBox 15" id="15"/>
          <p:cNvSpPr txBox="true"/>
          <p:nvPr/>
        </p:nvSpPr>
        <p:spPr>
          <a:xfrm rot="0">
            <a:off x="9526781" y="1439265"/>
            <a:ext cx="7875832" cy="2130402"/>
          </a:xfrm>
          <a:prstGeom prst="rect">
            <a:avLst/>
          </a:prstGeom>
        </p:spPr>
        <p:txBody>
          <a:bodyPr anchor="t" rtlCol="false" tIns="0" lIns="0" bIns="0" rIns="0">
            <a:spAutoFit/>
          </a:bodyPr>
          <a:lstStyle/>
          <a:p>
            <a:pPr algn="l">
              <a:lnSpc>
                <a:spcPts val="3401"/>
              </a:lnSpc>
            </a:pPr>
            <a:r>
              <a:rPr lang="en-US" sz="2501" b="true">
                <a:solidFill>
                  <a:srgbClr val="000000"/>
                </a:solidFill>
                <a:latin typeface="Barlow Condensed Bold"/>
                <a:ea typeface="Barlow Condensed Bold"/>
                <a:cs typeface="Barlow Condensed Bold"/>
                <a:sym typeface="Barlow Condensed Bold"/>
              </a:rPr>
              <a:t>XNPV — Irregular Cash Flows</a:t>
            </a:r>
          </a:p>
          <a:p>
            <a:pPr algn="l">
              <a:lnSpc>
                <a:spcPts val="3401"/>
              </a:lnSpc>
            </a:pPr>
            <a:r>
              <a:rPr lang="en-US" sz="2501">
                <a:solidFill>
                  <a:srgbClr val="000000"/>
                </a:solidFill>
                <a:latin typeface="Barlow Condensed"/>
                <a:ea typeface="Barlow Condensed"/>
                <a:cs typeface="Barlow Condensed"/>
                <a:sym typeface="Barlow Condensed"/>
              </a:rPr>
              <a:t>Chronological XNPV @ 20%: approximately ₹17,523.65.</a:t>
            </a:r>
          </a:p>
          <a:p>
            <a:pPr algn="l">
              <a:lnSpc>
                <a:spcPts val="3401"/>
              </a:lnSpc>
            </a:pPr>
            <a:r>
              <a:rPr lang="en-US" sz="2501">
                <a:solidFill>
                  <a:srgbClr val="000000"/>
                </a:solidFill>
                <a:latin typeface="Barlow Condensed"/>
                <a:ea typeface="Barlow Condensed"/>
                <a:cs typeface="Barlow Condensed"/>
                <a:sym typeface="Barlow Condensed"/>
              </a:rPr>
              <a:t>XNPV discounts each cash flow using its actual date rather than assuming equal periods.</a:t>
            </a:r>
          </a:p>
          <a:p>
            <a:pPr algn="l">
              <a:lnSpc>
                <a:spcPts val="3401"/>
              </a:lnSpc>
            </a:pPr>
            <a:r>
              <a:rPr lang="en-US" sz="2501">
                <a:solidFill>
                  <a:srgbClr val="000000"/>
                </a:solidFill>
                <a:latin typeface="Barlow Condensed"/>
                <a:ea typeface="Barlow Condensed"/>
                <a:cs typeface="Barlow Condensed"/>
                <a:sym typeface="Barlow Condensed"/>
              </a:rPr>
              <a:t>Use XNPV when transaction/investment dates are irregular.</a:t>
            </a:r>
          </a:p>
        </p:txBody>
      </p:sp>
      <p:sp>
        <p:nvSpPr>
          <p:cNvPr name="TextBox 16" id="16"/>
          <p:cNvSpPr txBox="true"/>
          <p:nvPr/>
        </p:nvSpPr>
        <p:spPr>
          <a:xfrm rot="0">
            <a:off x="1410937" y="4121890"/>
            <a:ext cx="5053978" cy="3844902"/>
          </a:xfrm>
          <a:prstGeom prst="rect">
            <a:avLst/>
          </a:prstGeom>
        </p:spPr>
        <p:txBody>
          <a:bodyPr anchor="t" rtlCol="false" tIns="0" lIns="0" bIns="0" rIns="0">
            <a:spAutoFit/>
          </a:bodyPr>
          <a:lstStyle/>
          <a:p>
            <a:pPr algn="l">
              <a:lnSpc>
                <a:spcPts val="3401"/>
              </a:lnSpc>
            </a:pPr>
            <a:r>
              <a:rPr lang="en-US" sz="2501" b="true">
                <a:solidFill>
                  <a:srgbClr val="000000"/>
                </a:solidFill>
                <a:latin typeface="Barlow Condensed Bold"/>
                <a:ea typeface="Barlow Condensed Bold"/>
                <a:cs typeface="Barlow Condensed Bold"/>
                <a:sym typeface="Barlow Condensed Bold"/>
              </a:rPr>
              <a:t>IRR, XIRR &amp; Multiple-IRR Risk</a:t>
            </a:r>
          </a:p>
          <a:p>
            <a:pPr algn="l">
              <a:lnSpc>
                <a:spcPts val="3401"/>
              </a:lnSpc>
            </a:pPr>
            <a:r>
              <a:rPr lang="en-US" sz="2501">
                <a:solidFill>
                  <a:srgbClr val="000000"/>
                </a:solidFill>
                <a:latin typeface="Barlow Condensed"/>
                <a:ea typeface="Barlow Condensed"/>
                <a:cs typeface="Barlow Condensed"/>
                <a:sym typeface="Barlow Condensed"/>
              </a:rPr>
              <a:t>Standard IRR example: approximately 10.53%.</a:t>
            </a:r>
          </a:p>
          <a:p>
            <a:pPr algn="l">
              <a:lnSpc>
                <a:spcPts val="3401"/>
              </a:lnSpc>
            </a:pPr>
            <a:r>
              <a:rPr lang="en-US" sz="2501">
                <a:solidFill>
                  <a:srgbClr val="000000"/>
                </a:solidFill>
                <a:latin typeface="Barlow Condensed"/>
                <a:ea typeface="Barlow Condensed"/>
                <a:cs typeface="Barlow Condensed"/>
                <a:sym typeface="Barlow Condensed"/>
              </a:rPr>
              <a:t>Multiple sign changes can create more than one IRR, so guess sensitivity matters.</a:t>
            </a:r>
          </a:p>
          <a:p>
            <a:pPr algn="l">
              <a:lnSpc>
                <a:spcPts val="3401"/>
              </a:lnSpc>
            </a:pPr>
            <a:r>
              <a:rPr lang="en-US" sz="2501">
                <a:solidFill>
                  <a:srgbClr val="000000"/>
                </a:solidFill>
                <a:latin typeface="Barlow Condensed"/>
                <a:ea typeface="Barlow Condensed"/>
                <a:cs typeface="Barlow Condensed"/>
                <a:sym typeface="Barlow Condensed"/>
              </a:rPr>
              <a:t>XIRR extends return analysis to irregular dates.</a:t>
            </a:r>
          </a:p>
          <a:p>
            <a:pPr algn="l">
              <a:lnSpc>
                <a:spcPts val="3401"/>
              </a:lnSpc>
            </a:pPr>
            <a:r>
              <a:rPr lang="en-US" sz="2501">
                <a:solidFill>
                  <a:srgbClr val="000000"/>
                </a:solidFill>
                <a:latin typeface="Barlow Condensed"/>
                <a:ea typeface="Barlow Condensed"/>
                <a:cs typeface="Barlow Condensed"/>
                <a:sym typeface="Barlow Condensed"/>
              </a:rPr>
              <a:t>When IRR and NPV conflict for mutually exclusive projects, the guideline emphasizes NPV.</a:t>
            </a:r>
          </a:p>
        </p:txBody>
      </p:sp>
      <p:sp>
        <p:nvSpPr>
          <p:cNvPr name="TextBox 17" id="17"/>
          <p:cNvSpPr txBox="true"/>
          <p:nvPr/>
        </p:nvSpPr>
        <p:spPr>
          <a:xfrm rot="0">
            <a:off x="6734693" y="4076088"/>
            <a:ext cx="6730005" cy="2559027"/>
          </a:xfrm>
          <a:prstGeom prst="rect">
            <a:avLst/>
          </a:prstGeom>
        </p:spPr>
        <p:txBody>
          <a:bodyPr anchor="t" rtlCol="false" tIns="0" lIns="0" bIns="0" rIns="0">
            <a:spAutoFit/>
          </a:bodyPr>
          <a:lstStyle/>
          <a:p>
            <a:pPr algn="l">
              <a:lnSpc>
                <a:spcPts val="3401"/>
              </a:lnSpc>
            </a:pPr>
            <a:r>
              <a:rPr lang="en-US" sz="2501" b="true">
                <a:solidFill>
                  <a:srgbClr val="000000"/>
                </a:solidFill>
                <a:latin typeface="Barlow Condensed Bold"/>
                <a:ea typeface="Barlow Condensed Bold"/>
                <a:cs typeface="Barlow Condensed Bold"/>
                <a:sym typeface="Barlow Condensed Bold"/>
              </a:rPr>
              <a:t>MIRR</a:t>
            </a:r>
          </a:p>
          <a:p>
            <a:pPr algn="l">
              <a:lnSpc>
                <a:spcPts val="3401"/>
              </a:lnSpc>
            </a:pPr>
            <a:r>
              <a:rPr lang="en-US" sz="2501">
                <a:solidFill>
                  <a:srgbClr val="000000"/>
                </a:solidFill>
                <a:latin typeface="Barlow Condensed"/>
                <a:ea typeface="Barlow Condensed"/>
                <a:cs typeface="Barlow Condensed"/>
                <a:sym typeface="Barlow Condensed"/>
              </a:rPr>
              <a:t>MIRR with 10% finance and 12% reinvestment rates: approximately 6.55%.</a:t>
            </a:r>
          </a:p>
          <a:p>
            <a:pPr algn="l">
              <a:lnSpc>
                <a:spcPts val="3401"/>
              </a:lnSpc>
            </a:pPr>
            <a:r>
              <a:rPr lang="en-US" sz="2501">
                <a:solidFill>
                  <a:srgbClr val="000000"/>
                </a:solidFill>
                <a:latin typeface="Barlow Condensed"/>
                <a:ea typeface="Barlow Condensed"/>
                <a:cs typeface="Barlow Condensed"/>
                <a:sym typeface="Barlow Condensed"/>
              </a:rPr>
              <a:t>MIRR separates financing and reinvestment assumptions.</a:t>
            </a:r>
          </a:p>
          <a:p>
            <a:pPr algn="l">
              <a:lnSpc>
                <a:spcPts val="3401"/>
              </a:lnSpc>
            </a:pPr>
            <a:r>
              <a:rPr lang="en-US" sz="2501">
                <a:solidFill>
                  <a:srgbClr val="000000"/>
                </a:solidFill>
                <a:latin typeface="Barlow Condensed"/>
                <a:ea typeface="Barlow Condensed"/>
                <a:cs typeface="Barlow Condensed"/>
                <a:sym typeface="Barlow Condensed"/>
              </a:rPr>
              <a:t>It provides a more controlled return measure when conventional IRR is ambiguous.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false" flipV="false" rot="7274840">
            <a:off x="14679307" y="1014075"/>
            <a:ext cx="5446613" cy="3018882"/>
          </a:xfrm>
          <a:custGeom>
            <a:avLst/>
            <a:gdLst/>
            <a:ahLst/>
            <a:cxnLst/>
            <a:rect r="r" b="b" t="t" l="l"/>
            <a:pathLst>
              <a:path h="3018882" w="5446613">
                <a:moveTo>
                  <a:pt x="0" y="0"/>
                </a:moveTo>
                <a:lnTo>
                  <a:pt x="5446614" y="0"/>
                </a:lnTo>
                <a:lnTo>
                  <a:pt x="5446614" y="3018881"/>
                </a:lnTo>
                <a:lnTo>
                  <a:pt x="0" y="30188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225471">
            <a:off x="3345890" y="-420190"/>
            <a:ext cx="2897781" cy="2897781"/>
          </a:xfrm>
          <a:custGeom>
            <a:avLst/>
            <a:gdLst/>
            <a:ahLst/>
            <a:cxnLst/>
            <a:rect r="r" b="b" t="t" l="l"/>
            <a:pathLst>
              <a:path h="2897781" w="2897781">
                <a:moveTo>
                  <a:pt x="0" y="0"/>
                </a:moveTo>
                <a:lnTo>
                  <a:pt x="2897780" y="0"/>
                </a:lnTo>
                <a:lnTo>
                  <a:pt x="2897780" y="2897780"/>
                </a:lnTo>
                <a:lnTo>
                  <a:pt x="0" y="28977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5691543">
            <a:off x="-309401" y="-914380"/>
            <a:ext cx="3886160" cy="3886160"/>
          </a:xfrm>
          <a:custGeom>
            <a:avLst/>
            <a:gdLst/>
            <a:ahLst/>
            <a:cxnLst/>
            <a:rect r="r" b="b" t="t" l="l"/>
            <a:pathLst>
              <a:path h="3886160" w="3886160">
                <a:moveTo>
                  <a:pt x="3886160" y="0"/>
                </a:moveTo>
                <a:lnTo>
                  <a:pt x="0" y="0"/>
                </a:lnTo>
                <a:lnTo>
                  <a:pt x="0" y="3886160"/>
                </a:lnTo>
                <a:lnTo>
                  <a:pt x="3886160" y="3886160"/>
                </a:lnTo>
                <a:lnTo>
                  <a:pt x="38861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5400000">
            <a:off x="-216853" y="5955347"/>
            <a:ext cx="4331653" cy="4331653"/>
          </a:xfrm>
          <a:custGeom>
            <a:avLst/>
            <a:gdLst/>
            <a:ahLst/>
            <a:cxnLst/>
            <a:rect r="r" b="b" t="t" l="l"/>
            <a:pathLst>
              <a:path h="4331653" w="4331653">
                <a:moveTo>
                  <a:pt x="0" y="0"/>
                </a:moveTo>
                <a:lnTo>
                  <a:pt x="4331653" y="0"/>
                </a:lnTo>
                <a:lnTo>
                  <a:pt x="4331653" y="4331653"/>
                </a:lnTo>
                <a:lnTo>
                  <a:pt x="0" y="433165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1028700" y="1028700"/>
            <a:ext cx="16230600" cy="8229600"/>
            <a:chOff x="0" y="0"/>
            <a:chExt cx="4274726" cy="2167467"/>
          </a:xfrm>
        </p:grpSpPr>
        <p:sp>
          <p:nvSpPr>
            <p:cNvPr name="Freeform 8" id="8"/>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alpha val="76863"/>
              </a:srgbClr>
            </a:solidFill>
          </p:spPr>
        </p:sp>
        <p:sp>
          <p:nvSpPr>
            <p:cNvPr name="TextBox 9" id="9"/>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9144000" y="1028700"/>
            <a:ext cx="8115300" cy="8229600"/>
            <a:chOff x="0" y="0"/>
            <a:chExt cx="9822440" cy="9960784"/>
          </a:xfrm>
        </p:grpSpPr>
        <p:sp>
          <p:nvSpPr>
            <p:cNvPr name="Freeform 11" id="11"/>
            <p:cNvSpPr/>
            <p:nvPr/>
          </p:nvSpPr>
          <p:spPr>
            <a:xfrm flipH="false" flipV="false" rot="0">
              <a:off x="0" y="0"/>
              <a:ext cx="9822440" cy="9960784"/>
            </a:xfrm>
            <a:custGeom>
              <a:avLst/>
              <a:gdLst/>
              <a:ahLst/>
              <a:cxnLst/>
              <a:rect r="r" b="b" t="t" l="l"/>
              <a:pathLst>
                <a:path h="9960784" w="9822440">
                  <a:moveTo>
                    <a:pt x="9822440" y="0"/>
                  </a:moveTo>
                  <a:lnTo>
                    <a:pt x="5957958" y="9960784"/>
                  </a:lnTo>
                  <a:lnTo>
                    <a:pt x="0" y="9960784"/>
                  </a:lnTo>
                  <a:lnTo>
                    <a:pt x="3864482" y="0"/>
                  </a:lnTo>
                  <a:lnTo>
                    <a:pt x="9822440" y="0"/>
                  </a:lnTo>
                  <a:close/>
                </a:path>
              </a:pathLst>
            </a:custGeom>
            <a:blipFill>
              <a:blip r:embed="rId9"/>
              <a:stretch>
                <a:fillRect l="-26103" t="0" r="-26103" b="0"/>
              </a:stretch>
            </a:blipFill>
          </p:spPr>
        </p:sp>
      </p:grpSp>
      <p:sp>
        <p:nvSpPr>
          <p:cNvPr name="Freeform 12" id="12"/>
          <p:cNvSpPr/>
          <p:nvPr/>
        </p:nvSpPr>
        <p:spPr>
          <a:xfrm flipH="false" flipV="false" rot="0">
            <a:off x="2357385" y="2290420"/>
            <a:ext cx="960641" cy="406962"/>
          </a:xfrm>
          <a:custGeom>
            <a:avLst/>
            <a:gdLst/>
            <a:ahLst/>
            <a:cxnLst/>
            <a:rect r="r" b="b" t="t" l="l"/>
            <a:pathLst>
              <a:path h="406962" w="960641">
                <a:moveTo>
                  <a:pt x="0" y="0"/>
                </a:moveTo>
                <a:lnTo>
                  <a:pt x="960640" y="0"/>
                </a:lnTo>
                <a:lnTo>
                  <a:pt x="960640" y="406962"/>
                </a:lnTo>
                <a:lnTo>
                  <a:pt x="0" y="4069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true" flipV="false" rot="0">
            <a:off x="15571685" y="8921151"/>
            <a:ext cx="1678116" cy="674298"/>
          </a:xfrm>
          <a:custGeom>
            <a:avLst/>
            <a:gdLst/>
            <a:ahLst/>
            <a:cxnLst/>
            <a:rect r="r" b="b" t="t" l="l"/>
            <a:pathLst>
              <a:path h="674298" w="1678116">
                <a:moveTo>
                  <a:pt x="1678116" y="0"/>
                </a:moveTo>
                <a:lnTo>
                  <a:pt x="0" y="0"/>
                </a:lnTo>
                <a:lnTo>
                  <a:pt x="0" y="674298"/>
                </a:lnTo>
                <a:lnTo>
                  <a:pt x="1678116" y="674298"/>
                </a:lnTo>
                <a:lnTo>
                  <a:pt x="1678116"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948974" y="3609943"/>
            <a:ext cx="7315200" cy="391449"/>
          </a:xfrm>
          <a:custGeom>
            <a:avLst/>
            <a:gdLst/>
            <a:ahLst/>
            <a:cxnLst/>
            <a:rect r="r" b="b" t="t" l="l"/>
            <a:pathLst>
              <a:path h="391449" w="7315200">
                <a:moveTo>
                  <a:pt x="0" y="0"/>
                </a:moveTo>
                <a:lnTo>
                  <a:pt x="7315200" y="0"/>
                </a:lnTo>
                <a:lnTo>
                  <a:pt x="7315200" y="391449"/>
                </a:lnTo>
                <a:lnTo>
                  <a:pt x="0" y="3914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5" id="15"/>
          <p:cNvSpPr txBox="true"/>
          <p:nvPr/>
        </p:nvSpPr>
        <p:spPr>
          <a:xfrm rot="0">
            <a:off x="2357385" y="2876704"/>
            <a:ext cx="7313276" cy="733239"/>
          </a:xfrm>
          <a:prstGeom prst="rect">
            <a:avLst/>
          </a:prstGeom>
        </p:spPr>
        <p:txBody>
          <a:bodyPr anchor="t" rtlCol="false" tIns="0" lIns="0" bIns="0" rIns="0">
            <a:spAutoFit/>
          </a:bodyPr>
          <a:lstStyle/>
          <a:p>
            <a:pPr algn="l">
              <a:lnSpc>
                <a:spcPts val="5543"/>
              </a:lnSpc>
            </a:pPr>
            <a:r>
              <a:rPr lang="en-US" sz="5181" b="true">
                <a:solidFill>
                  <a:srgbClr val="000000"/>
                </a:solidFill>
                <a:latin typeface="Bebas Neue Bold"/>
                <a:ea typeface="Bebas Neue Bold"/>
                <a:cs typeface="Bebas Neue Bold"/>
                <a:sym typeface="Bebas Neue Bold"/>
              </a:rPr>
              <a:t>Rec</a:t>
            </a:r>
            <a:r>
              <a:rPr lang="en-US" sz="5181" b="true">
                <a:solidFill>
                  <a:srgbClr val="000000"/>
                </a:solidFill>
                <a:latin typeface="Bebas Neue Bold"/>
                <a:ea typeface="Bebas Neue Bold"/>
                <a:cs typeface="Bebas Neue Bold"/>
                <a:sym typeface="Bebas Neue Bold"/>
              </a:rPr>
              <a:t>ommendations</a:t>
            </a:r>
          </a:p>
        </p:txBody>
      </p:sp>
      <p:sp>
        <p:nvSpPr>
          <p:cNvPr name="TextBox 16" id="16"/>
          <p:cNvSpPr txBox="true"/>
          <p:nvPr/>
        </p:nvSpPr>
        <p:spPr>
          <a:xfrm rot="0">
            <a:off x="2357385" y="4550515"/>
            <a:ext cx="7142381" cy="3416277"/>
          </a:xfrm>
          <a:prstGeom prst="rect">
            <a:avLst/>
          </a:prstGeom>
        </p:spPr>
        <p:txBody>
          <a:bodyPr anchor="t" rtlCol="false" tIns="0" lIns="0" bIns="0" rIns="0">
            <a:spAutoFit/>
          </a:bodyPr>
          <a:lstStyle/>
          <a:p>
            <a:pPr algn="l">
              <a:lnSpc>
                <a:spcPts val="3401"/>
              </a:lnSpc>
            </a:pPr>
            <a:r>
              <a:rPr lang="en-US" sz="2501">
                <a:solidFill>
                  <a:srgbClr val="000000"/>
                </a:solidFill>
                <a:latin typeface="Barlow Condensed"/>
                <a:ea typeface="Barlow Condensed"/>
                <a:cs typeface="Barlow Condensed"/>
                <a:sym typeface="Barlow Condensed"/>
              </a:rPr>
              <a:t>Use PV/NPV to assess economic value after considering timing.</a:t>
            </a:r>
          </a:p>
          <a:p>
            <a:pPr algn="l">
              <a:lnSpc>
                <a:spcPts val="3401"/>
              </a:lnSpc>
            </a:pPr>
            <a:r>
              <a:rPr lang="en-US" sz="2501">
                <a:solidFill>
                  <a:srgbClr val="000000"/>
                </a:solidFill>
                <a:latin typeface="Barlow Condensed"/>
                <a:ea typeface="Barlow Condensed"/>
                <a:cs typeface="Barlow Condensed"/>
                <a:sym typeface="Barlow Condensed"/>
              </a:rPr>
              <a:t>Use PMT/IPMT/PPMT to understand affordability and repayment economics.</a:t>
            </a:r>
          </a:p>
          <a:p>
            <a:pPr algn="l">
              <a:lnSpc>
                <a:spcPts val="3401"/>
              </a:lnSpc>
            </a:pPr>
            <a:r>
              <a:rPr lang="en-US" sz="2501">
                <a:solidFill>
                  <a:srgbClr val="000000"/>
                </a:solidFill>
                <a:latin typeface="Barlow Condensed"/>
                <a:ea typeface="Barlow Condensed"/>
                <a:cs typeface="Barlow Condensed"/>
                <a:sym typeface="Barlow Condensed"/>
              </a:rPr>
              <a:t>Use XNPV/XIRR for irregularly dated cash flows.</a:t>
            </a:r>
          </a:p>
          <a:p>
            <a:pPr algn="l">
              <a:lnSpc>
                <a:spcPts val="3401"/>
              </a:lnSpc>
            </a:pPr>
            <a:r>
              <a:rPr lang="en-US" sz="2501">
                <a:solidFill>
                  <a:srgbClr val="000000"/>
                </a:solidFill>
                <a:latin typeface="Barlow Condensed"/>
                <a:ea typeface="Barlow Condensed"/>
                <a:cs typeface="Barlow Condensed"/>
                <a:sym typeface="Barlow Condensed"/>
              </a:rPr>
              <a:t>Investigate multiple IRRs before using IRR for ranking.</a:t>
            </a:r>
          </a:p>
          <a:p>
            <a:pPr algn="l">
              <a:lnSpc>
                <a:spcPts val="3401"/>
              </a:lnSpc>
            </a:pPr>
            <a:r>
              <a:rPr lang="en-US" sz="2501">
                <a:solidFill>
                  <a:srgbClr val="000000"/>
                </a:solidFill>
                <a:latin typeface="Barlow Condensed"/>
                <a:ea typeface="Barlow Condensed"/>
                <a:cs typeface="Barlow Condensed"/>
                <a:sym typeface="Barlow Condensed"/>
              </a:rPr>
              <a:t>Keep assumptions, timing and sign conventions documented for auditability.</a:t>
            </a:r>
          </a:p>
          <a:p>
            <a:pPr algn="l">
              <a:lnSpc>
                <a:spcPts val="3401"/>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false" flipV="false" rot="7274840">
            <a:off x="14679307" y="1014075"/>
            <a:ext cx="5446613" cy="3018882"/>
          </a:xfrm>
          <a:custGeom>
            <a:avLst/>
            <a:gdLst/>
            <a:ahLst/>
            <a:cxnLst/>
            <a:rect r="r" b="b" t="t" l="l"/>
            <a:pathLst>
              <a:path h="3018882" w="5446613">
                <a:moveTo>
                  <a:pt x="0" y="0"/>
                </a:moveTo>
                <a:lnTo>
                  <a:pt x="5446614" y="0"/>
                </a:lnTo>
                <a:lnTo>
                  <a:pt x="5446614" y="3018881"/>
                </a:lnTo>
                <a:lnTo>
                  <a:pt x="0" y="30188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225471">
            <a:off x="3345890" y="-420190"/>
            <a:ext cx="2897781" cy="2897781"/>
          </a:xfrm>
          <a:custGeom>
            <a:avLst/>
            <a:gdLst/>
            <a:ahLst/>
            <a:cxnLst/>
            <a:rect r="r" b="b" t="t" l="l"/>
            <a:pathLst>
              <a:path h="2897781" w="2897781">
                <a:moveTo>
                  <a:pt x="0" y="0"/>
                </a:moveTo>
                <a:lnTo>
                  <a:pt x="2897780" y="0"/>
                </a:lnTo>
                <a:lnTo>
                  <a:pt x="2897780" y="2897780"/>
                </a:lnTo>
                <a:lnTo>
                  <a:pt x="0" y="28977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5691543">
            <a:off x="-309401" y="-914380"/>
            <a:ext cx="3886160" cy="3886160"/>
          </a:xfrm>
          <a:custGeom>
            <a:avLst/>
            <a:gdLst/>
            <a:ahLst/>
            <a:cxnLst/>
            <a:rect r="r" b="b" t="t" l="l"/>
            <a:pathLst>
              <a:path h="3886160" w="3886160">
                <a:moveTo>
                  <a:pt x="3886160" y="0"/>
                </a:moveTo>
                <a:lnTo>
                  <a:pt x="0" y="0"/>
                </a:lnTo>
                <a:lnTo>
                  <a:pt x="0" y="3886160"/>
                </a:lnTo>
                <a:lnTo>
                  <a:pt x="3886160" y="3886160"/>
                </a:lnTo>
                <a:lnTo>
                  <a:pt x="38861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5400000">
            <a:off x="-216853" y="5955347"/>
            <a:ext cx="4331653" cy="4331653"/>
          </a:xfrm>
          <a:custGeom>
            <a:avLst/>
            <a:gdLst/>
            <a:ahLst/>
            <a:cxnLst/>
            <a:rect r="r" b="b" t="t" l="l"/>
            <a:pathLst>
              <a:path h="4331653" w="4331653">
                <a:moveTo>
                  <a:pt x="0" y="0"/>
                </a:moveTo>
                <a:lnTo>
                  <a:pt x="4331653" y="0"/>
                </a:lnTo>
                <a:lnTo>
                  <a:pt x="4331653" y="4331653"/>
                </a:lnTo>
                <a:lnTo>
                  <a:pt x="0" y="433165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1028700" y="1028700"/>
            <a:ext cx="16230600" cy="8229600"/>
            <a:chOff x="0" y="0"/>
            <a:chExt cx="4274726" cy="2167467"/>
          </a:xfrm>
        </p:grpSpPr>
        <p:sp>
          <p:nvSpPr>
            <p:cNvPr name="Freeform 8" id="8"/>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alpha val="76863"/>
              </a:srgbClr>
            </a:solidFill>
          </p:spPr>
        </p:sp>
        <p:sp>
          <p:nvSpPr>
            <p:cNvPr name="TextBox 9" id="9"/>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9144000" y="1028700"/>
            <a:ext cx="8115300" cy="8229600"/>
            <a:chOff x="0" y="0"/>
            <a:chExt cx="9822440" cy="9960784"/>
          </a:xfrm>
        </p:grpSpPr>
        <p:sp>
          <p:nvSpPr>
            <p:cNvPr name="Freeform 11" id="11"/>
            <p:cNvSpPr/>
            <p:nvPr/>
          </p:nvSpPr>
          <p:spPr>
            <a:xfrm flipH="false" flipV="false" rot="0">
              <a:off x="0" y="0"/>
              <a:ext cx="9822440" cy="9960784"/>
            </a:xfrm>
            <a:custGeom>
              <a:avLst/>
              <a:gdLst/>
              <a:ahLst/>
              <a:cxnLst/>
              <a:rect r="r" b="b" t="t" l="l"/>
              <a:pathLst>
                <a:path h="9960784" w="9822440">
                  <a:moveTo>
                    <a:pt x="9822440" y="0"/>
                  </a:moveTo>
                  <a:lnTo>
                    <a:pt x="5957958" y="9960784"/>
                  </a:lnTo>
                  <a:lnTo>
                    <a:pt x="0" y="9960784"/>
                  </a:lnTo>
                  <a:lnTo>
                    <a:pt x="3864482" y="0"/>
                  </a:lnTo>
                  <a:lnTo>
                    <a:pt x="9822440" y="0"/>
                  </a:lnTo>
                  <a:close/>
                </a:path>
              </a:pathLst>
            </a:custGeom>
            <a:blipFill>
              <a:blip r:embed="rId9"/>
              <a:stretch>
                <a:fillRect l="-26103" t="0" r="-26103" b="0"/>
              </a:stretch>
            </a:blipFill>
          </p:spPr>
        </p:sp>
      </p:grpSp>
      <p:sp>
        <p:nvSpPr>
          <p:cNvPr name="Freeform 12" id="12"/>
          <p:cNvSpPr/>
          <p:nvPr/>
        </p:nvSpPr>
        <p:spPr>
          <a:xfrm flipH="false" flipV="false" rot="0">
            <a:off x="2357385" y="2290420"/>
            <a:ext cx="960641" cy="406962"/>
          </a:xfrm>
          <a:custGeom>
            <a:avLst/>
            <a:gdLst/>
            <a:ahLst/>
            <a:cxnLst/>
            <a:rect r="r" b="b" t="t" l="l"/>
            <a:pathLst>
              <a:path h="406962" w="960641">
                <a:moveTo>
                  <a:pt x="0" y="0"/>
                </a:moveTo>
                <a:lnTo>
                  <a:pt x="960640" y="0"/>
                </a:lnTo>
                <a:lnTo>
                  <a:pt x="960640" y="406962"/>
                </a:lnTo>
                <a:lnTo>
                  <a:pt x="0" y="4069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true" flipV="false" rot="0">
            <a:off x="15571685" y="8921151"/>
            <a:ext cx="1678116" cy="674298"/>
          </a:xfrm>
          <a:custGeom>
            <a:avLst/>
            <a:gdLst/>
            <a:ahLst/>
            <a:cxnLst/>
            <a:rect r="r" b="b" t="t" l="l"/>
            <a:pathLst>
              <a:path h="674298" w="1678116">
                <a:moveTo>
                  <a:pt x="1678116" y="0"/>
                </a:moveTo>
                <a:lnTo>
                  <a:pt x="0" y="0"/>
                </a:lnTo>
                <a:lnTo>
                  <a:pt x="0" y="674298"/>
                </a:lnTo>
                <a:lnTo>
                  <a:pt x="1678116" y="674298"/>
                </a:lnTo>
                <a:lnTo>
                  <a:pt x="1678116"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948974" y="3609943"/>
            <a:ext cx="7315200" cy="391449"/>
          </a:xfrm>
          <a:custGeom>
            <a:avLst/>
            <a:gdLst/>
            <a:ahLst/>
            <a:cxnLst/>
            <a:rect r="r" b="b" t="t" l="l"/>
            <a:pathLst>
              <a:path h="391449" w="7315200">
                <a:moveTo>
                  <a:pt x="0" y="0"/>
                </a:moveTo>
                <a:lnTo>
                  <a:pt x="7315200" y="0"/>
                </a:lnTo>
                <a:lnTo>
                  <a:pt x="7315200" y="391449"/>
                </a:lnTo>
                <a:lnTo>
                  <a:pt x="0" y="3914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5" id="15"/>
          <p:cNvSpPr txBox="true"/>
          <p:nvPr/>
        </p:nvSpPr>
        <p:spPr>
          <a:xfrm rot="0">
            <a:off x="2357385" y="2876704"/>
            <a:ext cx="7313276" cy="733239"/>
          </a:xfrm>
          <a:prstGeom prst="rect">
            <a:avLst/>
          </a:prstGeom>
        </p:spPr>
        <p:txBody>
          <a:bodyPr anchor="t" rtlCol="false" tIns="0" lIns="0" bIns="0" rIns="0">
            <a:spAutoFit/>
          </a:bodyPr>
          <a:lstStyle/>
          <a:p>
            <a:pPr algn="l">
              <a:lnSpc>
                <a:spcPts val="5543"/>
              </a:lnSpc>
            </a:pPr>
            <a:r>
              <a:rPr lang="en-US" sz="5181" b="true">
                <a:solidFill>
                  <a:srgbClr val="000000"/>
                </a:solidFill>
                <a:latin typeface="Bebas Neue Bold"/>
                <a:ea typeface="Bebas Neue Bold"/>
                <a:cs typeface="Bebas Neue Bold"/>
                <a:sym typeface="Bebas Neue Bold"/>
              </a:rPr>
              <a:t>C</a:t>
            </a:r>
            <a:r>
              <a:rPr lang="en-US" sz="5181" b="true">
                <a:solidFill>
                  <a:srgbClr val="000000"/>
                </a:solidFill>
                <a:latin typeface="Bebas Neue Bold"/>
                <a:ea typeface="Bebas Neue Bold"/>
                <a:cs typeface="Bebas Neue Bold"/>
                <a:sym typeface="Bebas Neue Bold"/>
              </a:rPr>
              <a:t>onclusion</a:t>
            </a:r>
          </a:p>
        </p:txBody>
      </p:sp>
      <p:sp>
        <p:nvSpPr>
          <p:cNvPr name="TextBox 16" id="16"/>
          <p:cNvSpPr txBox="true"/>
          <p:nvPr/>
        </p:nvSpPr>
        <p:spPr>
          <a:xfrm rot="0">
            <a:off x="2357385" y="4096642"/>
            <a:ext cx="7142381" cy="3416277"/>
          </a:xfrm>
          <a:prstGeom prst="rect">
            <a:avLst/>
          </a:prstGeom>
        </p:spPr>
        <p:txBody>
          <a:bodyPr anchor="t" rtlCol="false" tIns="0" lIns="0" bIns="0" rIns="0">
            <a:spAutoFit/>
          </a:bodyPr>
          <a:lstStyle/>
          <a:p>
            <a:pPr algn="l">
              <a:lnSpc>
                <a:spcPts val="3401"/>
              </a:lnSpc>
            </a:pPr>
            <a:r>
              <a:rPr lang="en-US" sz="2501">
                <a:solidFill>
                  <a:srgbClr val="000000"/>
                </a:solidFill>
                <a:latin typeface="Barlow Condensed"/>
                <a:ea typeface="Barlow Condensed"/>
                <a:cs typeface="Barlow Condensed"/>
                <a:sym typeface="Barlow Condensed"/>
              </a:rPr>
              <a:t>The completed model covers the financial functions and scenarios required by the guideline.</a:t>
            </a:r>
          </a:p>
          <a:p>
            <a:pPr algn="l">
              <a:lnSpc>
                <a:spcPts val="3401"/>
              </a:lnSpc>
            </a:pPr>
            <a:r>
              <a:rPr lang="en-US" sz="2501">
                <a:solidFill>
                  <a:srgbClr val="000000"/>
                </a:solidFill>
                <a:latin typeface="Barlow Condensed"/>
                <a:ea typeface="Barlow Condensed"/>
                <a:cs typeface="Barlow Condensed"/>
                <a:sym typeface="Barlow Condensed"/>
              </a:rPr>
              <a:t>Formula-driven outputs, reconciliation checks and chronological irregular-date schedules improve reliability.</a:t>
            </a:r>
          </a:p>
          <a:p>
            <a:pPr algn="l">
              <a:lnSpc>
                <a:spcPts val="3401"/>
              </a:lnSpc>
            </a:pPr>
            <a:r>
              <a:rPr lang="en-US" sz="2501">
                <a:solidFill>
                  <a:srgbClr val="000000"/>
                </a:solidFill>
                <a:latin typeface="Barlow Condensed"/>
                <a:ea typeface="Barlow Condensed"/>
                <a:cs typeface="Barlow Condensed"/>
                <a:sym typeface="Barlow Condensed"/>
              </a:rPr>
              <a:t>The project demonstrates practical Excel financial modelling from calculation through decision-making.</a:t>
            </a:r>
          </a:p>
          <a:p>
            <a:pPr algn="l">
              <a:lnSpc>
                <a:spcPts val="3401"/>
              </a:lnSpc>
            </a:pPr>
            <a:r>
              <a:rPr lang="en-US" sz="2501">
                <a:solidFill>
                  <a:srgbClr val="000000"/>
                </a:solidFill>
                <a:latin typeface="Barlow Condensed"/>
                <a:ea typeface="Barlow Condensed"/>
                <a:cs typeface="Barlow Condensed"/>
                <a:sym typeface="Barlow Condensed"/>
              </a:rPr>
              <a:t>Deliverables include Excel, presentation, detailed report, charts and GitHub documentation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grpSp>
        <p:nvGrpSpPr>
          <p:cNvPr name="Group 3" id="3"/>
          <p:cNvGrpSpPr/>
          <p:nvPr/>
        </p:nvGrpSpPr>
        <p:grpSpPr>
          <a:xfrm rot="0">
            <a:off x="-2197691" y="0"/>
            <a:ext cx="13949487" cy="10287000"/>
            <a:chOff x="0" y="0"/>
            <a:chExt cx="16883910" cy="12450980"/>
          </a:xfrm>
        </p:grpSpPr>
        <p:sp>
          <p:nvSpPr>
            <p:cNvPr name="Freeform 4" id="4"/>
            <p:cNvSpPr/>
            <p:nvPr/>
          </p:nvSpPr>
          <p:spPr>
            <a:xfrm flipH="false" flipV="false" rot="0">
              <a:off x="0" y="0"/>
              <a:ext cx="16883911" cy="12450980"/>
            </a:xfrm>
            <a:custGeom>
              <a:avLst/>
              <a:gdLst/>
              <a:ahLst/>
              <a:cxnLst/>
              <a:rect r="r" b="b" t="t" l="l"/>
              <a:pathLst>
                <a:path h="12450980" w="16883911">
                  <a:moveTo>
                    <a:pt x="16883911" y="0"/>
                  </a:moveTo>
                  <a:lnTo>
                    <a:pt x="10241206" y="12450980"/>
                  </a:lnTo>
                  <a:lnTo>
                    <a:pt x="0" y="12450980"/>
                  </a:lnTo>
                  <a:lnTo>
                    <a:pt x="6642705" y="0"/>
                  </a:lnTo>
                  <a:lnTo>
                    <a:pt x="16883911" y="0"/>
                  </a:lnTo>
                  <a:close/>
                </a:path>
              </a:pathLst>
            </a:custGeom>
            <a:blipFill>
              <a:blip r:embed="rId3"/>
              <a:stretch>
                <a:fillRect l="-10322" t="0" r="-10322" b="0"/>
              </a:stretch>
            </a:blipFill>
          </p:spPr>
        </p:sp>
      </p:grpSp>
      <p:grpSp>
        <p:nvGrpSpPr>
          <p:cNvPr name="Group 5" id="5"/>
          <p:cNvGrpSpPr/>
          <p:nvPr/>
        </p:nvGrpSpPr>
        <p:grpSpPr>
          <a:xfrm rot="0">
            <a:off x="6837879" y="6701284"/>
            <a:ext cx="11450121" cy="2919984"/>
            <a:chOff x="0" y="0"/>
            <a:chExt cx="3015670" cy="769049"/>
          </a:xfrm>
        </p:grpSpPr>
        <p:sp>
          <p:nvSpPr>
            <p:cNvPr name="Freeform 6" id="6"/>
            <p:cNvSpPr/>
            <p:nvPr/>
          </p:nvSpPr>
          <p:spPr>
            <a:xfrm flipH="false" flipV="false" rot="0">
              <a:off x="0" y="0"/>
              <a:ext cx="3015670" cy="769049"/>
            </a:xfrm>
            <a:custGeom>
              <a:avLst/>
              <a:gdLst/>
              <a:ahLst/>
              <a:cxnLst/>
              <a:rect r="r" b="b" t="t" l="l"/>
              <a:pathLst>
                <a:path h="769049" w="3015670">
                  <a:moveTo>
                    <a:pt x="0" y="0"/>
                  </a:moveTo>
                  <a:lnTo>
                    <a:pt x="3015670" y="0"/>
                  </a:lnTo>
                  <a:lnTo>
                    <a:pt x="3015670" y="769049"/>
                  </a:lnTo>
                  <a:lnTo>
                    <a:pt x="0" y="769049"/>
                  </a:lnTo>
                  <a:close/>
                </a:path>
              </a:pathLst>
            </a:custGeom>
            <a:gradFill rotWithShape="true">
              <a:gsLst>
                <a:gs pos="0">
                  <a:srgbClr val="5DE0E6">
                    <a:alpha val="100000"/>
                  </a:srgbClr>
                </a:gs>
                <a:gs pos="100000">
                  <a:srgbClr val="004AAD">
                    <a:alpha val="100000"/>
                  </a:srgbClr>
                </a:gs>
              </a:gsLst>
              <a:lin ang="0"/>
            </a:gradFill>
          </p:spPr>
        </p:sp>
        <p:sp>
          <p:nvSpPr>
            <p:cNvPr name="TextBox 7" id="7"/>
            <p:cNvSpPr txBox="true"/>
            <p:nvPr/>
          </p:nvSpPr>
          <p:spPr>
            <a:xfrm>
              <a:off x="0" y="-38100"/>
              <a:ext cx="3015670" cy="80714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3547838" y="0"/>
            <a:ext cx="7095676" cy="6208716"/>
            <a:chOff x="0" y="0"/>
            <a:chExt cx="812800" cy="711200"/>
          </a:xfrm>
        </p:grpSpPr>
        <p:sp>
          <p:nvSpPr>
            <p:cNvPr name="Freeform 9" id="9"/>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gradFill rotWithShape="true">
              <a:gsLst>
                <a:gs pos="0">
                  <a:srgbClr val="5DE0E6">
                    <a:alpha val="100000"/>
                  </a:srgbClr>
                </a:gs>
                <a:gs pos="100000">
                  <a:srgbClr val="004AAD">
                    <a:alpha val="100000"/>
                  </a:srgbClr>
                </a:gs>
              </a:gsLst>
              <a:lin ang="0"/>
            </a:gradFill>
          </p:spPr>
        </p:sp>
        <p:sp>
          <p:nvSpPr>
            <p:cNvPr name="TextBox 10" id="10"/>
            <p:cNvSpPr txBox="true"/>
            <p:nvPr/>
          </p:nvSpPr>
          <p:spPr>
            <a:xfrm>
              <a:off x="127000" y="12700"/>
              <a:ext cx="558800" cy="3683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1416060">
            <a:off x="10744412" y="-701442"/>
            <a:ext cx="703257" cy="4114800"/>
          </a:xfrm>
          <a:custGeom>
            <a:avLst/>
            <a:gdLst/>
            <a:ahLst/>
            <a:cxnLst/>
            <a:rect r="r" b="b" t="t" l="l"/>
            <a:pathLst>
              <a:path h="4114800" w="703257">
                <a:moveTo>
                  <a:pt x="0" y="0"/>
                </a:moveTo>
                <a:lnTo>
                  <a:pt x="703257" y="0"/>
                </a:lnTo>
                <a:lnTo>
                  <a:pt x="70325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7274840">
            <a:off x="14535993" y="931678"/>
            <a:ext cx="5446613" cy="3018882"/>
          </a:xfrm>
          <a:custGeom>
            <a:avLst/>
            <a:gdLst/>
            <a:ahLst/>
            <a:cxnLst/>
            <a:rect r="r" b="b" t="t" l="l"/>
            <a:pathLst>
              <a:path h="3018882" w="5446613">
                <a:moveTo>
                  <a:pt x="0" y="0"/>
                </a:moveTo>
                <a:lnTo>
                  <a:pt x="5446614" y="0"/>
                </a:lnTo>
                <a:lnTo>
                  <a:pt x="5446614" y="3018881"/>
                </a:lnTo>
                <a:lnTo>
                  <a:pt x="0" y="30188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9950113" y="7451354"/>
            <a:ext cx="7481819" cy="1553193"/>
          </a:xfrm>
          <a:prstGeom prst="rect">
            <a:avLst/>
          </a:prstGeom>
        </p:spPr>
        <p:txBody>
          <a:bodyPr anchor="t" rtlCol="false" tIns="0" lIns="0" bIns="0" rIns="0">
            <a:spAutoFit/>
          </a:bodyPr>
          <a:lstStyle/>
          <a:p>
            <a:pPr algn="l">
              <a:lnSpc>
                <a:spcPts val="11779"/>
              </a:lnSpc>
            </a:pPr>
            <a:r>
              <a:rPr lang="en-US" sz="11009" b="true">
                <a:solidFill>
                  <a:srgbClr val="FFFFFF"/>
                </a:solidFill>
                <a:latin typeface="Bebas Neue Bold"/>
                <a:ea typeface="Bebas Neue Bold"/>
                <a:cs typeface="Bebas Neue Bold"/>
                <a:sym typeface="Bebas Neue Bold"/>
              </a:rPr>
              <a:t>thank you</a:t>
            </a:r>
          </a:p>
        </p:txBody>
      </p:sp>
      <p:grpSp>
        <p:nvGrpSpPr>
          <p:cNvPr name="Group 14" id="14"/>
          <p:cNvGrpSpPr/>
          <p:nvPr/>
        </p:nvGrpSpPr>
        <p:grpSpPr>
          <a:xfrm rot="1831014">
            <a:off x="16871036" y="4659302"/>
            <a:ext cx="681115" cy="6532497"/>
            <a:chOff x="0" y="0"/>
            <a:chExt cx="179388" cy="1720493"/>
          </a:xfrm>
        </p:grpSpPr>
        <p:sp>
          <p:nvSpPr>
            <p:cNvPr name="Freeform 15" id="15"/>
            <p:cNvSpPr/>
            <p:nvPr/>
          </p:nvSpPr>
          <p:spPr>
            <a:xfrm flipH="false" flipV="false" rot="0">
              <a:off x="0" y="0"/>
              <a:ext cx="179388" cy="1720493"/>
            </a:xfrm>
            <a:custGeom>
              <a:avLst/>
              <a:gdLst/>
              <a:ahLst/>
              <a:cxnLst/>
              <a:rect r="r" b="b" t="t" l="l"/>
              <a:pathLst>
                <a:path h="1720493" w="179388">
                  <a:moveTo>
                    <a:pt x="0" y="0"/>
                  </a:moveTo>
                  <a:lnTo>
                    <a:pt x="179388" y="0"/>
                  </a:lnTo>
                  <a:lnTo>
                    <a:pt x="179388" y="1720493"/>
                  </a:lnTo>
                  <a:lnTo>
                    <a:pt x="0" y="1720493"/>
                  </a:lnTo>
                  <a:close/>
                </a:path>
              </a:pathLst>
            </a:custGeom>
            <a:solidFill>
              <a:srgbClr val="FFFFFF"/>
            </a:solidFill>
          </p:spPr>
        </p:sp>
        <p:sp>
          <p:nvSpPr>
            <p:cNvPr name="TextBox 16" id="16"/>
            <p:cNvSpPr txBox="true"/>
            <p:nvPr/>
          </p:nvSpPr>
          <p:spPr>
            <a:xfrm>
              <a:off x="0" y="-38100"/>
              <a:ext cx="179388" cy="1758593"/>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1671049">
            <a:off x="7534042" y="5863305"/>
            <a:ext cx="681115" cy="5190500"/>
            <a:chOff x="0" y="0"/>
            <a:chExt cx="179388" cy="1367045"/>
          </a:xfrm>
        </p:grpSpPr>
        <p:sp>
          <p:nvSpPr>
            <p:cNvPr name="Freeform 18" id="18"/>
            <p:cNvSpPr/>
            <p:nvPr/>
          </p:nvSpPr>
          <p:spPr>
            <a:xfrm flipH="false" flipV="false" rot="0">
              <a:off x="0" y="0"/>
              <a:ext cx="179388" cy="1367045"/>
            </a:xfrm>
            <a:custGeom>
              <a:avLst/>
              <a:gdLst/>
              <a:ahLst/>
              <a:cxnLst/>
              <a:rect r="r" b="b" t="t" l="l"/>
              <a:pathLst>
                <a:path h="1367045" w="179388">
                  <a:moveTo>
                    <a:pt x="0" y="0"/>
                  </a:moveTo>
                  <a:lnTo>
                    <a:pt x="179388" y="0"/>
                  </a:lnTo>
                  <a:lnTo>
                    <a:pt x="179388" y="1367045"/>
                  </a:lnTo>
                  <a:lnTo>
                    <a:pt x="0" y="1367045"/>
                  </a:lnTo>
                  <a:close/>
                </a:path>
              </a:pathLst>
            </a:custGeom>
            <a:solidFill>
              <a:srgbClr val="F0F9F8"/>
            </a:solidFill>
          </p:spPr>
        </p:sp>
        <p:sp>
          <p:nvSpPr>
            <p:cNvPr name="TextBox 19" id="19"/>
            <p:cNvSpPr txBox="true"/>
            <p:nvPr/>
          </p:nvSpPr>
          <p:spPr>
            <a:xfrm>
              <a:off x="0" y="-38100"/>
              <a:ext cx="179388" cy="1405145"/>
            </a:xfrm>
            <a:prstGeom prst="rect">
              <a:avLst/>
            </a:prstGeom>
          </p:spPr>
          <p:txBody>
            <a:bodyPr anchor="ctr" rtlCol="false" tIns="50800" lIns="50800" bIns="50800" rIns="50800"/>
            <a:lstStyle/>
            <a:p>
              <a:pPr algn="ctr">
                <a:lnSpc>
                  <a:spcPts val="2659"/>
                </a:lnSpc>
              </a:pPr>
            </a:p>
          </p:txBody>
        </p:sp>
      </p:grpSp>
      <p:sp>
        <p:nvSpPr>
          <p:cNvPr name="AutoShape 20" id="20"/>
          <p:cNvSpPr/>
          <p:nvPr/>
        </p:nvSpPr>
        <p:spPr>
          <a:xfrm flipV="true">
            <a:off x="6459125" y="-2165837"/>
            <a:ext cx="7074362" cy="13253066"/>
          </a:xfrm>
          <a:prstGeom prst="line">
            <a:avLst/>
          </a:prstGeom>
          <a:ln cap="flat" w="95250">
            <a:gradFill>
              <a:gsLst>
                <a:gs pos="0">
                  <a:srgbClr val="5DE0E6">
                    <a:alpha val="100000"/>
                  </a:srgbClr>
                </a:gs>
                <a:gs pos="100000">
                  <a:srgbClr val="004AAD">
                    <a:alpha val="100000"/>
                  </a:srgbClr>
                </a:gs>
              </a:gsLst>
              <a:lin ang="0"/>
            </a:gradFill>
            <a:prstDash val="solid"/>
            <a:headEnd type="none" len="sm" w="sm"/>
            <a:tailEnd type="none" len="sm" w="sm"/>
          </a:ln>
        </p:spPr>
      </p:sp>
      <p:sp>
        <p:nvSpPr>
          <p:cNvPr name="AutoShape 21" id="21"/>
          <p:cNvSpPr/>
          <p:nvPr/>
        </p:nvSpPr>
        <p:spPr>
          <a:xfrm flipV="true">
            <a:off x="15554781" y="5111745"/>
            <a:ext cx="3315391" cy="5619712"/>
          </a:xfrm>
          <a:prstGeom prst="line">
            <a:avLst/>
          </a:prstGeom>
          <a:ln cap="flat" w="95250">
            <a:gradFill>
              <a:gsLst>
                <a:gs pos="0">
                  <a:srgbClr val="5DE0E6">
                    <a:alpha val="100000"/>
                  </a:srgbClr>
                </a:gs>
                <a:gs pos="100000">
                  <a:srgbClr val="004AAD">
                    <a:alpha val="100000"/>
                  </a:srgbClr>
                </a:gs>
              </a:gsLst>
              <a:lin ang="0"/>
            </a:gra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DAHVwOx7VAQ</dc:identifier>
  <dcterms:modified xsi:type="dcterms:W3CDTF">2011-08-01T06:04:30Z</dcterms:modified>
  <cp:revision>1</cp:revision>
  <dc:title>FINANCIAL ANALYSIS PROJECT</dc:title>
</cp:coreProperties>
</file>